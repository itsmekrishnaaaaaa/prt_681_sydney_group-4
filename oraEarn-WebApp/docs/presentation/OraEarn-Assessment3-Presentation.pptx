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Read the line under the name, then the four people. Do not read the acknowledgements unless you are thanked.</a:t>
            </a:r>
          </a:p>
          <a:p/>
          <a:p>
            <a:r>
              <a:t>Krishna: database and tests. Dharma: the build and the business view. Jenish: the rules and the written report. Suraj: the numbers and the tables.</a:t>
            </a:r>
          </a:p>
          <a:p/>
          <a:p>
            <a:r>
              <a:t>Then: where the product came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One sentence per column.</a:t>
            </a:r>
          </a:p>
          <a:p/>
          <a:p>
            <a:r>
              <a:t>Challenge: the 48-hour fortnight, and money split across apps and spreadsheets.</a:t>
            </a:r>
          </a:p>
          <a:p>
            <a:r>
              <a:t>Constraints: new technologies, five sprints from week 5 to week 9, four people. Brooks: adding a person late costs teaching time.</a:t>
            </a:r>
          </a:p>
          <a:p>
            <a:r>
              <a:t>Solution: one login. The visa rule can see the shifts, because the shifts are in the same account.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Point across the four cards.</a:t>
            </a:r>
          </a:p>
          <a:p/>
          <a:p>
            <a:r>
              <a:t>Live shifts: SignalR hub /hubs/shifts. The hourly rate is on the job, not copied onto the shift.</a:t>
            </a:r>
          </a:p>
          <a:p>
            <a:r>
              <a:t>Visa guard: VisaComplianceService. Student work rights only. Window is today minus 13 days through today. Limit is 48. The check runs before the insert.</a:t>
            </a:r>
          </a:p>
          <a:p>
            <a:r>
              <a:t>Money: leftover pay is earnings minus expenses, never below zero.</a:t>
            </a:r>
          </a:p>
          <a:p>
            <a:r>
              <a:t>Aura: Python on port 8000. If it is down, the rest of the app still runs. Exports are Excel and PDF of the same dashboard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Walk the figure left to right, then the two cards.</a:t>
            </a:r>
          </a:p>
          <a:p/>
          <a:p>
            <a:r>
              <a:t>React on 5173 is the view. It sends HTTP and the JWT to ASP.NET Core on 5203. Controllers call services. Services use EF Core. EF Core talks to PostgreSQL. The browser never opens the database.</a:t>
            </a:r>
          </a:p>
          <a:p/>
          <a:p>
            <a:r>
              <a:t>SignalR hub is /hubs/shifts and uses the same token. Aura is Python on port 8000. The API calls it. The product still runs if Aura is off.</a:t>
            </a:r>
          </a:p>
          <a:p/>
          <a:p>
            <a:r>
              <a:t>JWT: AddJwtBearer. Checks issuer, audience, lifetime, and the signing key. Access token plus refresh token. Logout revokes the refresh token.</a:t>
            </a:r>
          </a:p>
          <a:p/>
          <a:p>
            <a:r>
              <a:t>Password: UserManager.CreateAsync stores PasswordHash. CheckPasswordSignInAsync compares the hash. Length 8, digit, lower, upper. Lockout is 5 failures, then 15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This is service-based MVC. Point left to right, then the return arrow, then Aura.</a:t>
            </a:r>
          </a:p>
          <a:p/>
          <a:p>
            <a:r>
              <a:t>View: the React pages. There is no Razor page. The browser is the view.</a:t>
            </a:r>
          </a:p>
          <a:p>
            <a:r>
              <a:t>Controller: AuthController, JobsController, ShiftsController, ExpensesController, SavingsGoalsController, AnalyticsController, NotificationsController, AdminController. A protected action has Authorize. The JWT is checked before the method runs.</a:t>
            </a:r>
          </a:p>
          <a:p>
            <a:r>
              <a:t>Service: the controller calls a service. ShiftService, JobService, AuthService, ExpenseService, VisaComplianceService. The 48-hour check is in the service, before any insert.</a:t>
            </a:r>
          </a:p>
          <a:p>
            <a:r>
              <a:t>Model: the entity classes and ApplicationDbContext. EF Core is the data access.</a:t>
            </a:r>
          </a:p>
          <a:p>
            <a:r>
              <a:t>Database: PostgreSQL.</a:t>
            </a:r>
          </a:p>
          <a:p/>
          <a:p>
            <a:r>
              <a:t>The return arrow is the JSON response, back to the same page.</a:t>
            </a:r>
          </a:p>
          <a:p/>
          <a:p>
            <a:r>
              <a:t>Aura hangs off the service layer. PythonAdvisorClient calls port 8000. The page does not call Python itself.</a:t>
            </a:r>
          </a:p>
          <a:p/>
          <a:p>
            <a:r>
              <a:t>SignalR is on the same API. The hub is authorized with the same JWT.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Walk the three lines, then the sentence at the bottom.</a:t>
            </a:r>
          </a:p>
          <a:p/>
          <a:p>
            <a:r>
              <a:t>Line 1: a user has jobs. A job has shifts. The shift stores JobId, not a copied hourly rate, and not a UserId. Pay is calculated from the job's rate at save time. Editing the job rate later does not rewrite old shifts.</a:t>
            </a:r>
          </a:p>
          <a:p/>
          <a:p>
            <a:r>
              <a:t>Line 2: this is the correction if someone remembers an older diagram. An expense does not link to a job. It links to ExpenseCategory and PaymentMethod. The category belongs to the user, so the expense is still that user's money. Payment methods are Card, Cash, Bank Transfer, and Other. Delete is Restrict while expenses exist.</a:t>
            </a:r>
          </a:p>
          <a:p/>
          <a:p>
            <a:r>
              <a:t>Line 3: savings goals belong to the user. Allocation is a percent of leftover pay. The live shift is ActiveShiftSession. Its UserId is unique, so only one clock-in is open.</a:t>
            </a:r>
          </a:p>
          <a:p/>
          <a:p>
            <a:r>
              <a:t>The migration is named NormalizeTo3NF. The 48-hour cap is VisaComplianceService, a query, not a column.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This is the database the code uses.</a:t>
            </a:r>
          </a:p>
          <a:p/>
          <a:p>
            <a:r>
              <a:t>Users hold the email, PasswordHash, visa fields, and approval. A user has many jobs. A job has many shifts. The shift stores JobId. The hourly rate stays on the job.</a:t>
            </a:r>
          </a:p>
          <a:p/>
          <a:p>
            <a:r>
              <a:t>Categories belong to the user. An expense stores CategoryId and PaymentMethodId. Payment methods are Card, Cash, Bank transfer, and Other.</a:t>
            </a:r>
          </a:p>
          <a:p/>
          <a:p>
            <a:r>
              <a:t>Savings goals belong to the user. The live shift is one open clock-in, unique on UserId.</a:t>
            </a:r>
          </a:p>
          <a:p/>
          <a:p>
            <a:r>
              <a:t>48 hours is a sum of shift hours over 14 days. It is not a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Walk left to right.</a:t>
            </a:r>
          </a:p>
          <a:p/>
          <a:p>
            <a:r>
              <a:t>UNF was one spreadsheet row: visa, jobs, shifts, and expenses packed together.</a:t>
            </a:r>
          </a:p>
          <a:p>
            <a:r>
              <a:t>1NF made each fact a row, but the shift still copied the user, the job title, and the rate.</a:t>
            </a:r>
          </a:p>
          <a:p>
            <a:r>
              <a:t>3NF is what is running. The rate lives on the job. The shift stores JobId. The expense stores two foreign keys.</a:t>
            </a:r>
          </a:p>
          <a:p/>
          <a:p>
            <a:r>
              <a:t>The migration is named NormalizeTo3NF. A shift already saved keeps the pay it was given when Cafe's rate changes.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Two actors.</a:t>
            </a:r>
          </a:p>
          <a:p/>
          <a:p>
            <a:r>
              <a:t>The student registers, signs in, works with jobs and shifts, watches the 48-hour bar, logs money, exports, and can ask Aura.</a:t>
            </a:r>
          </a:p>
          <a:p>
            <a:r>
              <a:t>The admin approves or rejects, opens the ID file, sets the role, and can see platform analytics.</a:t>
            </a:r>
          </a:p>
          <a:p/>
          <a:p>
            <a:r>
              <a:t>A student action and an admin action are separate. Admin routes need the Admin role.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Follow the numbers.</a:t>
            </a:r>
          </a:p>
          <a:p/>
          <a:p>
            <a:r>
              <a:t>1. React posts /api/Shifts with the JWT.</a:t>
            </a:r>
          </a:p>
          <a:p>
            <a:r>
              <a:t>2. Shift.Calculate uses the job's HourlyRate. Hours are end minus start minus break.</a:t>
            </a:r>
          </a:p>
          <a:p>
            <a:r>
              <a:t>3. VisaCompliance runs only for a student. It sums hours over the last 14 days.</a:t>
            </a:r>
          </a:p>
          <a:p>
            <a:r>
              <a:t>4 and 5. That sum is a query on this user's shifts.</a:t>
            </a:r>
          </a:p>
          <a:p>
            <a:r>
              <a:t>6. Over 48, the save stops. Nothing is inserted.</a:t>
            </a:r>
          </a:p>
          <a:p>
            <a:r>
              <a:t>7. Under 48, the shift row is inserted.</a:t>
            </a:r>
          </a:p>
          <a:p>
            <a:r>
              <a:t>8. The API returns 201 and the savings goals are recalculated.</a:t>
            </a:r>
          </a:p>
          <a:p/>
          <a:p>
            <a:r>
              <a:t>The check is in ShiftService.CreateAsync, before SaveChanges.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70 seconds. This is the security story. Do not claim a hash algorithm by name. Say ASP.NET Identity writes PasswordHash when the user is created. CheckPasswordSignInAsync compares that hash. Lockout is on.</a:t>
            </a:r>
          </a:p>
          <a:p/>
          <a:p>
            <a:r>
              <a:t>Approval: Register sets ApprovalStatus to Pending. A non-admin who is Pending or Rejected never reaches a token. Admin can sign in to do the approval.</a:t>
            </a:r>
          </a:p>
          <a:p/>
          <a:p>
            <a:r>
              <a:t>Unauthorised tests, black box: Login_WithInvalidCredentials returns 401. Me without a token returns 401. GetJobs without a token returns 401. A good login returns an access token. Me with that token returns the profile.</a:t>
            </a:r>
          </a:p>
          <a:p/>
          <a:p>
            <a:r>
              <a:t>Be straight about the gap. The 48-hour refusal is in the service. The test project does not yet post a shift that crosses 48 and expect a rejection. That is the next test. Alice on the live screen is at 7.5 of 48, so do not say she is already over.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Suraj owns these numbers if he is speaking. Use only the live screen.</a:t>
            </a:r>
          </a:p>
          <a:p/>
          <a:p>
            <a:r>
              <a:t>Alice, student, last 7 days, 29 Sep 2026 to 5 Oct 2026: one shift, 7.5 hours, earnings $210, expenses $365, net −$155. 7.5 times $28 is $210, so that shift was priced from Cafe Barista. Visa bar: 7.5 of 48, 40.5 left, window 22 Sep 2026 to 5 Oct 2026. Savings on screen: targets about $9,722, 65 percent allocated, about $1,144 saved. Point at Holiday trip and Emergency fund. Ignore the short test names.</a:t>
            </a:r>
          </a:p>
          <a:p/>
          <a:p>
            <a:r>
              <a:t>Two sums: the 7-day card is not the savings total. Goals use all earnings minus all expenses.</a:t>
            </a:r>
          </a:p>
          <a:p/>
          <a:p>
            <a:r>
              <a:t>Hours still needed is remaining dollars divided by the hourly rate. If allocation percents pass 100, they are scaled back to 100.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a:t>
            </a:r>
          </a:p>
          <a:p/>
          <a:p>
            <a:r>
              <a:t>The order is deliberate. The visa check is a sum of shifts, so shifts existed before the rule. Aura has nothing to say until goals and hours exist.</a:t>
            </a:r>
          </a:p>
          <a:p/>
          <a:p>
            <a:r>
              <a:t>We stayed four people. Adding someone in the last weeks would have been spent on teaching. A week moved a story. It did not grow the team.</a:t>
            </a:r>
          </a:p>
          <a:p/>
          <a:p>
            <a:r>
              <a:t>Some older Git uploads only say "Add files via upload". From the working practice, messages are feat: or fix:. Do not invent hour totals from a timesheet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Left is what works today. Middle is the honest gap. Right is later, not this assessment.</a:t>
            </a:r>
          </a:p>
          <a:p/>
          <a:p>
            <a:r>
              <a:t>The missing test matters because the rule is real in VisaComplianceService and the screen shows Alice at 7.5 of 48. The suite proves hour maths, pay, savings, and 401s. It does not yet prove the refusal.</a:t>
            </a:r>
          </a:p>
          <a:p/>
          <a:p>
            <a:r>
              <a:t>Future: the API is already there for a phone client. Aura stays a separate Python service.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accounts. Do not read the passwords to the room unless the marker asks you to sign in.</a:t>
            </a:r>
          </a:p>
          <a:p/>
          <a:p>
            <a:r>
              <a:t>Alice Nguyen, student, already approved: alice@oraearn.local / User123!</a:t>
            </a:r>
          </a:p>
          <a:p>
            <a:r>
              <a:t>Bob, citizen, full work rights: bob@oraearn.local / User123!</a:t>
            </a:r>
          </a:p>
          <a:p>
            <a:r>
              <a:t>Admin: admin@oraearn.local / Admin123!</a:t>
            </a:r>
          </a:p>
          <a:p/>
          <a:p>
            <a:r>
              <a:t>Alice's visa bar is 7.5 of 48, window 22 Sep 2026 to 5 Oct 2026. She is not over the limit. To show the guard, enter a shift that would take the fortnight over 48. The API refuses and does not insert. Then sign in as Bob and show that the same rule does not apply.</a:t>
            </a:r>
          </a:p>
          <a:p/>
          <a:p>
            <a:r>
              <a:t>Ports: frontend 5173, API 5203, Aura 8000. Swagger is /swagger if they ask for the lock on each route.</a:t>
            </a:r>
          </a:p>
          <a:p/>
          <a:p>
            <a:r>
              <a:t>Jobs to point at: Cafe Barista $28, Retail Assistant $26. Ignore a test job named dfdf. Savings: Holiday trip and Emergency fund. Ignore a test goal named asd.</a:t>
            </a:r>
          </a:p>
          <a:p/>
          <a:p>
            <a:r>
              <a:t>Close on questions. The next test we would write is the one that expects the 48-hour refusal.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20040"/>
            <a:ext cx="10972800" cy="822960"/>
          </a:xfrm>
          <a:prstGeom prst="rect">
            <a:avLst/>
          </a:prstGeom>
          <a:noFill/>
        </p:spPr>
        <p:txBody>
          <a:bodyPr wrap="square" lIns="0" rIns="0" tIns="0" bIns="0" anchor="t"/>
          <a:lstStyle/>
          <a:p>
            <a:pPr algn="l">
              <a:spcBef>
                <a:spcPts val="0"/>
              </a:spcBef>
              <a:spcAft>
                <a:spcPts val="0"/>
              </a:spcAft>
            </a:pPr>
            <a:r>
              <a:rPr sz="5400" b="1">
                <a:solidFill>
                  <a:srgbClr val="111111"/>
                </a:solidFill>
                <a:latin typeface="Calibri"/>
              </a:rPr>
              <a:t>OraEarn</a:t>
            </a:r>
          </a:p>
        </p:txBody>
      </p:sp>
      <p:sp>
        <p:nvSpPr>
          <p:cNvPr id="6" name="TextBox 5"/>
          <p:cNvSpPr txBox="1"/>
          <p:nvPr/>
        </p:nvSpPr>
        <p:spPr>
          <a:xfrm>
            <a:off x="566928" y="1188720"/>
            <a:ext cx="10972800" cy="365760"/>
          </a:xfrm>
          <a:prstGeom prst="rect">
            <a:avLst/>
          </a:prstGeom>
          <a:noFill/>
        </p:spPr>
        <p:txBody>
          <a:bodyPr wrap="square" lIns="0" rIns="0" tIns="0" bIns="0" anchor="t"/>
          <a:lstStyle/>
          <a:p>
            <a:pPr algn="l">
              <a:spcBef>
                <a:spcPts val="0"/>
              </a:spcBef>
              <a:spcAft>
                <a:spcPts val="0"/>
              </a:spcAft>
            </a:pPr>
            <a:r>
              <a:rPr sz="2000" b="0">
                <a:solidFill>
                  <a:srgbClr val="444444"/>
                </a:solidFill>
                <a:latin typeface="Calibri"/>
              </a:rPr>
              <a:t>Earn smart. Stay compliant. Save with purpose.</a:t>
            </a:r>
          </a:p>
        </p:txBody>
      </p:sp>
      <p:sp>
        <p:nvSpPr>
          <p:cNvPr id="7" name="TextBox 6"/>
          <p:cNvSpPr txBox="1"/>
          <p:nvPr/>
        </p:nvSpPr>
        <p:spPr>
          <a:xfrm>
            <a:off x="566928" y="1600200"/>
            <a:ext cx="10972800" cy="3200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Assessment 3   ·   Project presentation   ·   PRT681   ·   Group 4</a:t>
            </a:r>
          </a:p>
        </p:txBody>
      </p:sp>
      <p:sp>
        <p:nvSpPr>
          <p:cNvPr id="8" name="Rectangle 7"/>
          <p:cNvSpPr/>
          <p:nvPr/>
        </p:nvSpPr>
        <p:spPr>
          <a:xfrm>
            <a:off x="502920" y="2240280"/>
            <a:ext cx="2697480" cy="2880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24028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68880"/>
            <a:ext cx="2377440" cy="8229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Krishna Sapkota</a:t>
            </a:r>
          </a:p>
        </p:txBody>
      </p:sp>
      <p:sp>
        <p:nvSpPr>
          <p:cNvPr id="11" name="TextBox 10"/>
          <p:cNvSpPr txBox="1"/>
          <p:nvPr/>
        </p:nvSpPr>
        <p:spPr>
          <a:xfrm>
            <a:off x="667512" y="3337560"/>
            <a:ext cx="2377440" cy="320040"/>
          </a:xfrm>
          <a:prstGeom prst="rect">
            <a:avLst/>
          </a:prstGeom>
          <a:noFill/>
        </p:spPr>
        <p:txBody>
          <a:bodyPr wrap="square" lIns="0" rIns="0" tIns="0" bIns="0" anchor="t"/>
          <a:lstStyle/>
          <a:p>
            <a:pPr algn="l">
              <a:spcBef>
                <a:spcPts val="0"/>
              </a:spcBef>
              <a:spcAft>
                <a:spcPts val="0"/>
              </a:spcAft>
            </a:pPr>
            <a:r>
              <a:rPr sz="1400" b="0">
                <a:solidFill>
                  <a:srgbClr val="444444"/>
                </a:solidFill>
                <a:latin typeface="Calibri"/>
              </a:rPr>
              <a:t>S395795</a:t>
            </a:r>
          </a:p>
        </p:txBody>
      </p:sp>
      <p:sp>
        <p:nvSpPr>
          <p:cNvPr id="12" name="TextBox 11"/>
          <p:cNvSpPr txBox="1"/>
          <p:nvPr/>
        </p:nvSpPr>
        <p:spPr>
          <a:xfrm>
            <a:off x="667512" y="3794760"/>
            <a:ext cx="2377440" cy="8229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Database administrator</a:t>
            </a:r>
          </a:p>
          <a:p>
            <a:pPr algn="l">
              <a:spcBef>
                <a:spcPts val="0"/>
              </a:spcBef>
              <a:spcAft>
                <a:spcPts val="0"/>
              </a:spcAft>
            </a:pPr>
            <a:r>
              <a:rPr sz="1500" b="0">
                <a:solidFill>
                  <a:srgbClr val="111111"/>
                </a:solidFill>
                <a:latin typeface="Calibri"/>
              </a:rPr>
              <a:t>Tester</a:t>
            </a:r>
          </a:p>
        </p:txBody>
      </p:sp>
      <p:sp>
        <p:nvSpPr>
          <p:cNvPr id="13" name="Rectangle 12"/>
          <p:cNvSpPr/>
          <p:nvPr/>
        </p:nvSpPr>
        <p:spPr>
          <a:xfrm>
            <a:off x="3383280" y="2240280"/>
            <a:ext cx="2697480" cy="2880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24028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468880"/>
            <a:ext cx="2377440" cy="8229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Dharma Bahadur Budhathoki</a:t>
            </a:r>
          </a:p>
        </p:txBody>
      </p:sp>
      <p:sp>
        <p:nvSpPr>
          <p:cNvPr id="16" name="TextBox 15"/>
          <p:cNvSpPr txBox="1"/>
          <p:nvPr/>
        </p:nvSpPr>
        <p:spPr>
          <a:xfrm>
            <a:off x="3547872" y="3337560"/>
            <a:ext cx="2377440" cy="320040"/>
          </a:xfrm>
          <a:prstGeom prst="rect">
            <a:avLst/>
          </a:prstGeom>
          <a:noFill/>
        </p:spPr>
        <p:txBody>
          <a:bodyPr wrap="square" lIns="0" rIns="0" tIns="0" bIns="0" anchor="t"/>
          <a:lstStyle/>
          <a:p>
            <a:pPr algn="l">
              <a:spcBef>
                <a:spcPts val="0"/>
              </a:spcBef>
              <a:spcAft>
                <a:spcPts val="0"/>
              </a:spcAft>
            </a:pPr>
            <a:r>
              <a:rPr sz="1400" b="0">
                <a:solidFill>
                  <a:srgbClr val="444444"/>
                </a:solidFill>
                <a:latin typeface="Calibri"/>
              </a:rPr>
              <a:t>S395172</a:t>
            </a:r>
          </a:p>
        </p:txBody>
      </p:sp>
      <p:sp>
        <p:nvSpPr>
          <p:cNvPr id="17" name="TextBox 16"/>
          <p:cNvSpPr txBox="1"/>
          <p:nvPr/>
        </p:nvSpPr>
        <p:spPr>
          <a:xfrm>
            <a:off x="3547872" y="3794760"/>
            <a:ext cx="2377440" cy="8229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Developer</a:t>
            </a:r>
          </a:p>
          <a:p>
            <a:pPr algn="l">
              <a:spcBef>
                <a:spcPts val="0"/>
              </a:spcBef>
              <a:spcAft>
                <a:spcPts val="0"/>
              </a:spcAft>
            </a:pPr>
            <a:r>
              <a:rPr sz="1500" b="0">
                <a:solidFill>
                  <a:srgbClr val="111111"/>
                </a:solidFill>
                <a:latin typeface="Calibri"/>
              </a:rPr>
              <a:t>Business analyst</a:t>
            </a:r>
          </a:p>
        </p:txBody>
      </p:sp>
      <p:sp>
        <p:nvSpPr>
          <p:cNvPr id="18" name="Rectangle 17"/>
          <p:cNvSpPr/>
          <p:nvPr/>
        </p:nvSpPr>
        <p:spPr>
          <a:xfrm>
            <a:off x="6263640" y="2240280"/>
            <a:ext cx="2697480" cy="2880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24028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1" y="2468880"/>
            <a:ext cx="2377440" cy="8229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Jenish Gurung</a:t>
            </a:r>
          </a:p>
        </p:txBody>
      </p:sp>
      <p:sp>
        <p:nvSpPr>
          <p:cNvPr id="21" name="TextBox 20"/>
          <p:cNvSpPr txBox="1"/>
          <p:nvPr/>
        </p:nvSpPr>
        <p:spPr>
          <a:xfrm>
            <a:off x="6428231" y="3337560"/>
            <a:ext cx="2377440" cy="320040"/>
          </a:xfrm>
          <a:prstGeom prst="rect">
            <a:avLst/>
          </a:prstGeom>
          <a:noFill/>
        </p:spPr>
        <p:txBody>
          <a:bodyPr wrap="square" lIns="0" rIns="0" tIns="0" bIns="0" anchor="t"/>
          <a:lstStyle/>
          <a:p>
            <a:pPr algn="l">
              <a:spcBef>
                <a:spcPts val="0"/>
              </a:spcBef>
              <a:spcAft>
                <a:spcPts val="0"/>
              </a:spcAft>
            </a:pPr>
            <a:r>
              <a:rPr sz="1400" b="0">
                <a:solidFill>
                  <a:srgbClr val="444444"/>
                </a:solidFill>
                <a:latin typeface="Calibri"/>
              </a:rPr>
              <a:t>S395321</a:t>
            </a:r>
          </a:p>
        </p:txBody>
      </p:sp>
      <p:sp>
        <p:nvSpPr>
          <p:cNvPr id="22" name="TextBox 21"/>
          <p:cNvSpPr txBox="1"/>
          <p:nvPr/>
        </p:nvSpPr>
        <p:spPr>
          <a:xfrm>
            <a:off x="6428231" y="3794760"/>
            <a:ext cx="2377440" cy="8229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Business analyst</a:t>
            </a:r>
          </a:p>
          <a:p>
            <a:pPr algn="l">
              <a:spcBef>
                <a:spcPts val="0"/>
              </a:spcBef>
              <a:spcAft>
                <a:spcPts val="0"/>
              </a:spcAft>
            </a:pPr>
            <a:r>
              <a:rPr sz="1500" b="0">
                <a:solidFill>
                  <a:srgbClr val="111111"/>
                </a:solidFill>
                <a:latin typeface="Calibri"/>
              </a:rPr>
              <a:t>Report writer</a:t>
            </a:r>
          </a:p>
        </p:txBody>
      </p:sp>
      <p:sp>
        <p:nvSpPr>
          <p:cNvPr id="23" name="Rectangle 22"/>
          <p:cNvSpPr/>
          <p:nvPr/>
        </p:nvSpPr>
        <p:spPr>
          <a:xfrm>
            <a:off x="9144000" y="2240280"/>
            <a:ext cx="2697480" cy="2880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0" y="224028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08592" y="2468880"/>
            <a:ext cx="2377440" cy="8229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Suraj Khadka</a:t>
            </a:r>
          </a:p>
        </p:txBody>
      </p:sp>
      <p:sp>
        <p:nvSpPr>
          <p:cNvPr id="26" name="TextBox 25"/>
          <p:cNvSpPr txBox="1"/>
          <p:nvPr/>
        </p:nvSpPr>
        <p:spPr>
          <a:xfrm>
            <a:off x="9308592" y="3337560"/>
            <a:ext cx="2377440" cy="320040"/>
          </a:xfrm>
          <a:prstGeom prst="rect">
            <a:avLst/>
          </a:prstGeom>
          <a:noFill/>
        </p:spPr>
        <p:txBody>
          <a:bodyPr wrap="square" lIns="0" rIns="0" tIns="0" bIns="0" anchor="t"/>
          <a:lstStyle/>
          <a:p>
            <a:pPr algn="l">
              <a:spcBef>
                <a:spcPts val="0"/>
              </a:spcBef>
              <a:spcAft>
                <a:spcPts val="0"/>
              </a:spcAft>
            </a:pPr>
            <a:r>
              <a:rPr sz="1400" b="0">
                <a:solidFill>
                  <a:srgbClr val="444444"/>
                </a:solidFill>
                <a:latin typeface="Calibri"/>
              </a:rPr>
              <a:t>S394949</a:t>
            </a:r>
          </a:p>
        </p:txBody>
      </p:sp>
      <p:sp>
        <p:nvSpPr>
          <p:cNvPr id="27" name="TextBox 26"/>
          <p:cNvSpPr txBox="1"/>
          <p:nvPr/>
        </p:nvSpPr>
        <p:spPr>
          <a:xfrm>
            <a:off x="9308592" y="3794760"/>
            <a:ext cx="2377440" cy="8229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Data analyst</a:t>
            </a:r>
          </a:p>
          <a:p>
            <a:pPr algn="l">
              <a:spcBef>
                <a:spcPts val="0"/>
              </a:spcBef>
              <a:spcAft>
                <a:spcPts val="0"/>
              </a:spcAft>
            </a:pPr>
            <a:r>
              <a:rPr sz="1500" b="0">
                <a:solidFill>
                  <a:srgbClr val="111111"/>
                </a:solidFill>
                <a:latin typeface="Calibri"/>
              </a:rPr>
              <a:t>Database administrator</a:t>
            </a:r>
          </a:p>
        </p:txBody>
      </p:sp>
      <p:sp>
        <p:nvSpPr>
          <p:cNvPr id="28" name="TextBox 27"/>
          <p:cNvSpPr txBox="1"/>
          <p:nvPr/>
        </p:nvSpPr>
        <p:spPr>
          <a:xfrm>
            <a:off x="548640" y="5394960"/>
            <a:ext cx="11064240" cy="640080"/>
          </a:xfrm>
          <a:prstGeom prst="rect">
            <a:avLst/>
          </a:prstGeom>
          <a:noFill/>
        </p:spPr>
        <p:txBody>
          <a:bodyPr wrap="square" lIns="0" rIns="0" tIns="0" bIns="0" anchor="t"/>
          <a:lstStyle/>
          <a:p>
            <a:pPr algn="l">
              <a:spcBef>
                <a:spcPts val="0"/>
              </a:spcBef>
              <a:spcAft>
                <a:spcPts val="0"/>
              </a:spcAft>
            </a:pPr>
            <a:r>
              <a:rPr sz="1500" b="0">
                <a:solidFill>
                  <a:srgbClr val="444444"/>
                </a:solidFill>
                <a:latin typeface="Calibri"/>
              </a:rPr>
              <a:t>Acknowledgements. Our tutors and lecturers, for guidance and feedback,</a:t>
            </a:r>
          </a:p>
          <a:p>
            <a:pPr algn="l">
              <a:spcBef>
                <a:spcPts val="0"/>
              </a:spcBef>
              <a:spcAft>
                <a:spcPts val="0"/>
              </a:spcAft>
            </a:pPr>
            <a:r>
              <a:rPr sz="1500" b="0">
                <a:solidFill>
                  <a:srgbClr val="444444"/>
                </a:solidFill>
                <a:latin typeface="Calibri"/>
              </a:rPr>
              <a:t>and every teammate whose work built OraEarn.</a:t>
            </a:r>
          </a:p>
        </p:txBody>
      </p:sp>
      <p:sp>
        <p:nvSpPr>
          <p:cNvPr id="29" name="TextBox 28"/>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30" name="TextBox 29"/>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Where we came from</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2</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Rectangle 7"/>
          <p:cNvSpPr/>
          <p:nvPr/>
        </p:nvSpPr>
        <p:spPr>
          <a:xfrm>
            <a:off x="502920" y="1325880"/>
            <a:ext cx="3566160" cy="4480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356616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600200"/>
            <a:ext cx="3063240" cy="64008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The challenge</a:t>
            </a:r>
          </a:p>
        </p:txBody>
      </p:sp>
      <p:sp>
        <p:nvSpPr>
          <p:cNvPr id="11" name="TextBox 10"/>
          <p:cNvSpPr txBox="1"/>
          <p:nvPr/>
        </p:nvSpPr>
        <p:spPr>
          <a:xfrm>
            <a:off x="758952" y="2468880"/>
            <a:ext cx="3063240" cy="2834640"/>
          </a:xfrm>
          <a:prstGeom prst="rect">
            <a:avLst/>
          </a:prstGeom>
          <a:noFill/>
        </p:spPr>
        <p:txBody>
          <a:bodyPr wrap="square" lIns="0" rIns="0" tIns="0" bIns="0" anchor="t"/>
          <a:lstStyle/>
          <a:p>
            <a:pPr algn="l">
              <a:spcBef>
                <a:spcPts val="0"/>
              </a:spcBef>
              <a:spcAft>
                <a:spcPts val="0"/>
              </a:spcAft>
            </a:pPr>
            <a:r>
              <a:rPr sz="1800" b="0">
                <a:solidFill>
                  <a:srgbClr val="111111"/>
                </a:solidFill>
                <a:latin typeface="Calibri"/>
              </a:rPr>
              <a:t>A student visa allows 48 hours in 14 days.</a:t>
            </a:r>
          </a:p>
          <a:p>
            <a:pPr algn="l">
              <a:spcBef>
                <a:spcPts val="0"/>
              </a:spcBef>
              <a:spcAft>
                <a:spcPts val="0"/>
              </a:spcAft>
            </a:pPr>
            <a:r>
              <a:rPr sz="1800" b="0">
                <a:solidFill>
                  <a:srgbClr val="111111"/>
                </a:solidFill>
                <a:latin typeface="Calibri"/>
              </a:rPr>
              <a:t>Shifts, expenses, and savings were tracked in separate places.</a:t>
            </a:r>
          </a:p>
        </p:txBody>
      </p:sp>
      <p:sp>
        <p:nvSpPr>
          <p:cNvPr id="12" name="Rectangle 11"/>
          <p:cNvSpPr/>
          <p:nvPr/>
        </p:nvSpPr>
        <p:spPr>
          <a:xfrm>
            <a:off x="4251959" y="1325880"/>
            <a:ext cx="3566160" cy="4480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325880"/>
            <a:ext cx="356616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600200"/>
            <a:ext cx="3063240" cy="64008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Our constraints</a:t>
            </a:r>
          </a:p>
        </p:txBody>
      </p:sp>
      <p:sp>
        <p:nvSpPr>
          <p:cNvPr id="15" name="TextBox 14"/>
          <p:cNvSpPr txBox="1"/>
          <p:nvPr/>
        </p:nvSpPr>
        <p:spPr>
          <a:xfrm>
            <a:off x="4507992" y="2468880"/>
            <a:ext cx="3063240" cy="2834640"/>
          </a:xfrm>
          <a:prstGeom prst="rect">
            <a:avLst/>
          </a:prstGeom>
          <a:noFill/>
        </p:spPr>
        <p:txBody>
          <a:bodyPr wrap="square" lIns="0" rIns="0" tIns="0" bIns="0" anchor="t"/>
          <a:lstStyle/>
          <a:p>
            <a:pPr algn="l">
              <a:spcBef>
                <a:spcPts val="0"/>
              </a:spcBef>
              <a:spcAft>
                <a:spcPts val="0"/>
              </a:spcAft>
            </a:pPr>
            <a:r>
              <a:rPr sz="1800" b="0">
                <a:solidFill>
                  <a:srgbClr val="111111"/>
                </a:solidFill>
                <a:latin typeface="Calibri"/>
              </a:rPr>
              <a:t>First time on this stack.</a:t>
            </a:r>
          </a:p>
          <a:p>
            <a:pPr algn="l">
              <a:spcBef>
                <a:spcPts val="0"/>
              </a:spcBef>
              <a:spcAft>
                <a:spcPts val="0"/>
              </a:spcAft>
            </a:pPr>
            <a:r>
              <a:rPr sz="1800" b="0">
                <a:solidFill>
                  <a:srgbClr val="111111"/>
                </a:solidFill>
                <a:latin typeface="Calibri"/>
              </a:rPr>
              <a:t>Five weekly sprints.</a:t>
            </a:r>
          </a:p>
          <a:p>
            <a:pPr algn="l">
              <a:spcBef>
                <a:spcPts val="0"/>
              </a:spcBef>
              <a:spcAft>
                <a:spcPts val="0"/>
              </a:spcAft>
            </a:pPr>
            <a:r>
              <a:rPr sz="1800" b="0">
                <a:solidFill>
                  <a:srgbClr val="111111"/>
                </a:solidFill>
                <a:latin typeface="Calibri"/>
              </a:rPr>
              <a:t>Four people. We did not add a fifth late.</a:t>
            </a:r>
          </a:p>
        </p:txBody>
      </p:sp>
      <p:sp>
        <p:nvSpPr>
          <p:cNvPr id="16" name="Rectangle 15"/>
          <p:cNvSpPr/>
          <p:nvPr/>
        </p:nvSpPr>
        <p:spPr>
          <a:xfrm>
            <a:off x="8001000" y="1325880"/>
            <a:ext cx="3566160" cy="4480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325880"/>
            <a:ext cx="356616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600200"/>
            <a:ext cx="3063240" cy="64008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Our solution</a:t>
            </a:r>
          </a:p>
        </p:txBody>
      </p:sp>
      <p:sp>
        <p:nvSpPr>
          <p:cNvPr id="19" name="TextBox 18"/>
          <p:cNvSpPr txBox="1"/>
          <p:nvPr/>
        </p:nvSpPr>
        <p:spPr>
          <a:xfrm>
            <a:off x="8257031" y="2468880"/>
            <a:ext cx="3063240" cy="2834640"/>
          </a:xfrm>
          <a:prstGeom prst="rect">
            <a:avLst/>
          </a:prstGeom>
          <a:noFill/>
        </p:spPr>
        <p:txBody>
          <a:bodyPr wrap="square" lIns="0" rIns="0" tIns="0" bIns="0" anchor="t"/>
          <a:lstStyle/>
          <a:p>
            <a:pPr algn="l">
              <a:spcBef>
                <a:spcPts val="0"/>
              </a:spcBef>
              <a:spcAft>
                <a:spcPts val="0"/>
              </a:spcAft>
            </a:pPr>
            <a:r>
              <a:rPr sz="1800" b="0">
                <a:solidFill>
                  <a:srgbClr val="111111"/>
                </a:solidFill>
                <a:latin typeface="Calibri"/>
              </a:rPr>
              <a:t>OraEarn. One account for jobs, shifts, the visa check, expenses, savings, and Aura.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Product overview</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3</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TextBox 7"/>
          <p:cNvSpPr txBox="1"/>
          <p:nvPr/>
        </p:nvSpPr>
        <p:spPr>
          <a:xfrm>
            <a:off x="502920" y="1097280"/>
            <a:ext cx="10972800" cy="365760"/>
          </a:xfrm>
          <a:prstGeom prst="rect">
            <a:avLst/>
          </a:prstGeom>
          <a:noFill/>
        </p:spPr>
        <p:txBody>
          <a:bodyPr wrap="square" lIns="0" rIns="0" tIns="0" bIns="0" anchor="t"/>
          <a:lstStyle/>
          <a:p>
            <a:pPr algn="l">
              <a:spcBef>
                <a:spcPts val="0"/>
              </a:spcBef>
              <a:spcAft>
                <a:spcPts val="0"/>
              </a:spcAft>
            </a:pPr>
            <a:r>
              <a:rPr sz="1800" b="0">
                <a:solidFill>
                  <a:srgbClr val="444444"/>
                </a:solidFill>
                <a:latin typeface="Calibri"/>
              </a:rPr>
              <a:t>Why OraEarn. One login covers the work, the limit, and the money.</a:t>
            </a:r>
          </a:p>
        </p:txBody>
      </p:sp>
      <p:sp>
        <p:nvSpPr>
          <p:cNvPr id="9" name="Rectangle 8"/>
          <p:cNvSpPr/>
          <p:nvPr/>
        </p:nvSpPr>
        <p:spPr>
          <a:xfrm>
            <a:off x="502920" y="1737360"/>
            <a:ext cx="2697480" cy="4023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373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011680"/>
            <a:ext cx="2286000" cy="82296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Live shifts</a:t>
            </a:r>
          </a:p>
        </p:txBody>
      </p:sp>
      <p:sp>
        <p:nvSpPr>
          <p:cNvPr id="12" name="TextBox 11"/>
          <p:cNvSpPr txBox="1"/>
          <p:nvPr/>
        </p:nvSpPr>
        <p:spPr>
          <a:xfrm>
            <a:off x="704088" y="3017520"/>
            <a:ext cx="2286000" cy="228600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Clock in and out.</a:t>
            </a:r>
          </a:p>
          <a:p>
            <a:pPr algn="l">
              <a:spcBef>
                <a:spcPts val="0"/>
              </a:spcBef>
              <a:spcAft>
                <a:spcPts val="0"/>
              </a:spcAft>
            </a:pPr>
            <a:r>
              <a:rPr sz="1600" b="0">
                <a:solidFill>
                  <a:srgbClr val="111111"/>
                </a:solidFill>
                <a:latin typeface="Calibri"/>
              </a:rPr>
              <a:t>Pay comes from the job rate.</a:t>
            </a:r>
          </a:p>
          <a:p>
            <a:pPr algn="l">
              <a:spcBef>
                <a:spcPts val="0"/>
              </a:spcBef>
              <a:spcAft>
                <a:spcPts val="0"/>
              </a:spcAft>
            </a:pPr>
            <a:r>
              <a:rPr sz="1600" b="0">
                <a:solidFill>
                  <a:srgbClr val="111111"/>
                </a:solidFill>
                <a:latin typeface="Calibri"/>
              </a:rPr>
              <a:t>The calendar updates live.</a:t>
            </a:r>
          </a:p>
        </p:txBody>
      </p:sp>
      <p:sp>
        <p:nvSpPr>
          <p:cNvPr id="13" name="Rectangle 12"/>
          <p:cNvSpPr/>
          <p:nvPr/>
        </p:nvSpPr>
        <p:spPr>
          <a:xfrm>
            <a:off x="3383280" y="1737360"/>
            <a:ext cx="2697480" cy="4023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7373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2011680"/>
            <a:ext cx="2286000" cy="82296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Visa guard</a:t>
            </a:r>
          </a:p>
        </p:txBody>
      </p:sp>
      <p:sp>
        <p:nvSpPr>
          <p:cNvPr id="16" name="TextBox 15"/>
          <p:cNvSpPr txBox="1"/>
          <p:nvPr/>
        </p:nvSpPr>
        <p:spPr>
          <a:xfrm>
            <a:off x="3584448" y="3017520"/>
            <a:ext cx="2286000" cy="228600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Rolling 14 days.</a:t>
            </a:r>
          </a:p>
          <a:p>
            <a:pPr algn="l">
              <a:spcBef>
                <a:spcPts val="0"/>
              </a:spcBef>
              <a:spcAft>
                <a:spcPts val="0"/>
              </a:spcAft>
            </a:pPr>
            <a:r>
              <a:rPr sz="1600" b="0">
                <a:solidFill>
                  <a:srgbClr val="111111"/>
                </a:solidFill>
                <a:latin typeface="Calibri"/>
              </a:rPr>
              <a:t>48 hours for a student.</a:t>
            </a:r>
          </a:p>
          <a:p>
            <a:pPr algn="l">
              <a:spcBef>
                <a:spcPts val="0"/>
              </a:spcBef>
              <a:spcAft>
                <a:spcPts val="0"/>
              </a:spcAft>
            </a:pPr>
            <a:r>
              <a:rPr sz="1600" b="0">
                <a:solidFill>
                  <a:srgbClr val="111111"/>
                </a:solidFill>
                <a:latin typeface="Calibri"/>
              </a:rPr>
              <a:t>Over the limit, the shift is not saved.</a:t>
            </a:r>
          </a:p>
        </p:txBody>
      </p:sp>
      <p:sp>
        <p:nvSpPr>
          <p:cNvPr id="17" name="Rectangle 16"/>
          <p:cNvSpPr/>
          <p:nvPr/>
        </p:nvSpPr>
        <p:spPr>
          <a:xfrm>
            <a:off x="6263640" y="1737360"/>
            <a:ext cx="2697480" cy="4023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17373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7" y="2011680"/>
            <a:ext cx="2286000" cy="82296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Money tools</a:t>
            </a:r>
          </a:p>
        </p:txBody>
      </p:sp>
      <p:sp>
        <p:nvSpPr>
          <p:cNvPr id="20" name="TextBox 19"/>
          <p:cNvSpPr txBox="1"/>
          <p:nvPr/>
        </p:nvSpPr>
        <p:spPr>
          <a:xfrm>
            <a:off x="6464807" y="3017520"/>
            <a:ext cx="2286000" cy="228600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Expenses by category.</a:t>
            </a:r>
          </a:p>
          <a:p>
            <a:pPr algn="l">
              <a:spcBef>
                <a:spcPts val="0"/>
              </a:spcBef>
              <a:spcAft>
                <a:spcPts val="0"/>
              </a:spcAft>
            </a:pPr>
            <a:r>
              <a:rPr sz="1600" b="0">
                <a:solidFill>
                  <a:srgbClr val="111111"/>
                </a:solidFill>
                <a:latin typeface="Calibri"/>
              </a:rPr>
              <a:t>Savings goals from leftover pay.</a:t>
            </a:r>
          </a:p>
        </p:txBody>
      </p:sp>
      <p:sp>
        <p:nvSpPr>
          <p:cNvPr id="21" name="Rectangle 20"/>
          <p:cNvSpPr/>
          <p:nvPr/>
        </p:nvSpPr>
        <p:spPr>
          <a:xfrm>
            <a:off x="9144000" y="1737360"/>
            <a:ext cx="2697480" cy="40233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7373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5168" y="2011680"/>
            <a:ext cx="2286000" cy="82296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Aura and exports</a:t>
            </a:r>
          </a:p>
        </p:txBody>
      </p:sp>
      <p:sp>
        <p:nvSpPr>
          <p:cNvPr id="24" name="TextBox 23"/>
          <p:cNvSpPr txBox="1"/>
          <p:nvPr/>
        </p:nvSpPr>
        <p:spPr>
          <a:xfrm>
            <a:off x="9345168" y="3017520"/>
            <a:ext cx="2286000" cy="228600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 small advisor beside the product.</a:t>
            </a:r>
          </a:p>
          <a:p>
            <a:pPr algn="l">
              <a:spcBef>
                <a:spcPts val="0"/>
              </a:spcBef>
              <a:spcAft>
                <a:spcPts val="0"/>
              </a:spcAft>
            </a:pPr>
            <a:r>
              <a:rPr sz="1600" b="0">
                <a:solidFill>
                  <a:srgbClr val="111111"/>
                </a:solidFill>
                <a:latin typeface="Calibri"/>
              </a:rPr>
              <a:t>Excel and PDF from the same figures.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Technologies and tools</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4</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Rectangle 7"/>
          <p:cNvSpPr/>
          <p:nvPr/>
        </p:nvSpPr>
        <p:spPr>
          <a:xfrm>
            <a:off x="365760" y="1115568"/>
            <a:ext cx="1874519" cy="2194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115568"/>
            <a:ext cx="1874519"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act.png"/>
          <p:cNvPicPr>
            <a:picLocks noChangeAspect="1"/>
          </p:cNvPicPr>
          <p:nvPr/>
        </p:nvPicPr>
        <p:blipFill>
          <a:blip r:embed="rId2"/>
          <a:stretch>
            <a:fillRect/>
          </a:stretch>
        </p:blipFill>
        <p:spPr>
          <a:xfrm>
            <a:off x="777240" y="1316736"/>
            <a:ext cx="1051560" cy="1051560"/>
          </a:xfrm>
          <a:prstGeom prst="rect">
            <a:avLst/>
          </a:prstGeom>
        </p:spPr>
      </p:pic>
      <p:sp>
        <p:nvSpPr>
          <p:cNvPr id="11" name="TextBox 10"/>
          <p:cNvSpPr txBox="1"/>
          <p:nvPr/>
        </p:nvSpPr>
        <p:spPr>
          <a:xfrm>
            <a:off x="438912" y="2441448"/>
            <a:ext cx="1728216" cy="292608"/>
          </a:xfrm>
          <a:prstGeom prst="rect">
            <a:avLst/>
          </a:prstGeom>
          <a:noFill/>
        </p:spPr>
        <p:txBody>
          <a:bodyPr wrap="square" lIns="0" rIns="0" tIns="0" bIns="0" anchor="t"/>
          <a:lstStyle/>
          <a:p>
            <a:pPr algn="ctr">
              <a:spcBef>
                <a:spcPts val="0"/>
              </a:spcBef>
              <a:spcAft>
                <a:spcPts val="0"/>
              </a:spcAft>
            </a:pPr>
            <a:r>
              <a:rPr sz="1400" b="1">
                <a:solidFill>
                  <a:srgbClr val="111111"/>
                </a:solidFill>
                <a:latin typeface="Calibri"/>
              </a:rPr>
              <a:t>React 19</a:t>
            </a:r>
          </a:p>
        </p:txBody>
      </p:sp>
      <p:sp>
        <p:nvSpPr>
          <p:cNvPr id="12" name="TextBox 11"/>
          <p:cNvSpPr txBox="1"/>
          <p:nvPr/>
        </p:nvSpPr>
        <p:spPr>
          <a:xfrm>
            <a:off x="438912" y="2743200"/>
            <a:ext cx="1728216" cy="411480"/>
          </a:xfrm>
          <a:prstGeom prst="rect">
            <a:avLst/>
          </a:prstGeom>
          <a:noFill/>
        </p:spPr>
        <p:txBody>
          <a:bodyPr wrap="square" lIns="0" rIns="0" tIns="0" bIns="0" anchor="t"/>
          <a:lstStyle/>
          <a:p>
            <a:pPr algn="ctr">
              <a:spcBef>
                <a:spcPts val="0"/>
              </a:spcBef>
              <a:spcAft>
                <a:spcPts val="0"/>
              </a:spcAft>
            </a:pPr>
            <a:r>
              <a:rPr sz="1200" b="0">
                <a:solidFill>
                  <a:srgbClr val="444444"/>
                </a:solidFill>
                <a:latin typeface="Calibri"/>
              </a:rPr>
              <a:t>The view. Port 5173.</a:t>
            </a:r>
          </a:p>
        </p:txBody>
      </p:sp>
      <p:sp>
        <p:nvSpPr>
          <p:cNvPr id="13" name="Rectangle 12"/>
          <p:cNvSpPr/>
          <p:nvPr/>
        </p:nvSpPr>
        <p:spPr>
          <a:xfrm>
            <a:off x="2322576" y="1115568"/>
            <a:ext cx="1874519" cy="2194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22576" y="1115568"/>
            <a:ext cx="1874519"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ypescript.png"/>
          <p:cNvPicPr>
            <a:picLocks noChangeAspect="1"/>
          </p:cNvPicPr>
          <p:nvPr/>
        </p:nvPicPr>
        <p:blipFill>
          <a:blip r:embed="rId3"/>
          <a:stretch>
            <a:fillRect/>
          </a:stretch>
        </p:blipFill>
        <p:spPr>
          <a:xfrm>
            <a:off x="2734056" y="1316736"/>
            <a:ext cx="1051560" cy="1051560"/>
          </a:xfrm>
          <a:prstGeom prst="rect">
            <a:avLst/>
          </a:prstGeom>
        </p:spPr>
      </p:pic>
      <p:sp>
        <p:nvSpPr>
          <p:cNvPr id="16" name="TextBox 15"/>
          <p:cNvSpPr txBox="1"/>
          <p:nvPr/>
        </p:nvSpPr>
        <p:spPr>
          <a:xfrm>
            <a:off x="2395728" y="2441448"/>
            <a:ext cx="1728216" cy="292608"/>
          </a:xfrm>
          <a:prstGeom prst="rect">
            <a:avLst/>
          </a:prstGeom>
          <a:noFill/>
        </p:spPr>
        <p:txBody>
          <a:bodyPr wrap="square" lIns="0" rIns="0" tIns="0" bIns="0" anchor="t"/>
          <a:lstStyle/>
          <a:p>
            <a:pPr algn="ctr">
              <a:spcBef>
                <a:spcPts val="0"/>
              </a:spcBef>
              <a:spcAft>
                <a:spcPts val="0"/>
              </a:spcAft>
            </a:pPr>
            <a:r>
              <a:rPr sz="1400" b="1">
                <a:solidFill>
                  <a:srgbClr val="111111"/>
                </a:solidFill>
                <a:latin typeface="Calibri"/>
              </a:rPr>
              <a:t>TypeScript</a:t>
            </a:r>
          </a:p>
        </p:txBody>
      </p:sp>
      <p:sp>
        <p:nvSpPr>
          <p:cNvPr id="17" name="TextBox 16"/>
          <p:cNvSpPr txBox="1"/>
          <p:nvPr/>
        </p:nvSpPr>
        <p:spPr>
          <a:xfrm>
            <a:off x="2395728" y="2743200"/>
            <a:ext cx="1728216" cy="411480"/>
          </a:xfrm>
          <a:prstGeom prst="rect">
            <a:avLst/>
          </a:prstGeom>
          <a:noFill/>
        </p:spPr>
        <p:txBody>
          <a:bodyPr wrap="square" lIns="0" rIns="0" tIns="0" bIns="0" anchor="t"/>
          <a:lstStyle/>
          <a:p>
            <a:pPr algn="ctr">
              <a:spcBef>
                <a:spcPts val="0"/>
              </a:spcBef>
              <a:spcAft>
                <a:spcPts val="0"/>
              </a:spcAft>
            </a:pPr>
            <a:r>
              <a:rPr sz="1200" b="0">
                <a:solidFill>
                  <a:srgbClr val="444444"/>
                </a:solidFill>
                <a:latin typeface="Calibri"/>
              </a:rPr>
              <a:t>The page code.</a:t>
            </a:r>
          </a:p>
        </p:txBody>
      </p:sp>
      <p:sp>
        <p:nvSpPr>
          <p:cNvPr id="18" name="Rectangle 17"/>
          <p:cNvSpPr/>
          <p:nvPr/>
        </p:nvSpPr>
        <p:spPr>
          <a:xfrm>
            <a:off x="4279392" y="1115568"/>
            <a:ext cx="1874519" cy="2194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79392" y="1115568"/>
            <a:ext cx="1874519"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vite.png"/>
          <p:cNvPicPr>
            <a:picLocks noChangeAspect="1"/>
          </p:cNvPicPr>
          <p:nvPr/>
        </p:nvPicPr>
        <p:blipFill>
          <a:blip r:embed="rId4"/>
          <a:stretch>
            <a:fillRect/>
          </a:stretch>
        </p:blipFill>
        <p:spPr>
          <a:xfrm>
            <a:off x="4690872" y="1316736"/>
            <a:ext cx="1051560" cy="1051560"/>
          </a:xfrm>
          <a:prstGeom prst="rect">
            <a:avLst/>
          </a:prstGeom>
        </p:spPr>
      </p:pic>
      <p:sp>
        <p:nvSpPr>
          <p:cNvPr id="21" name="TextBox 20"/>
          <p:cNvSpPr txBox="1"/>
          <p:nvPr/>
        </p:nvSpPr>
        <p:spPr>
          <a:xfrm>
            <a:off x="4352544" y="2441448"/>
            <a:ext cx="1728216" cy="292608"/>
          </a:xfrm>
          <a:prstGeom prst="rect">
            <a:avLst/>
          </a:prstGeom>
          <a:noFill/>
        </p:spPr>
        <p:txBody>
          <a:bodyPr wrap="square" lIns="0" rIns="0" tIns="0" bIns="0" anchor="t"/>
          <a:lstStyle/>
          <a:p>
            <a:pPr algn="ctr">
              <a:spcBef>
                <a:spcPts val="0"/>
              </a:spcBef>
              <a:spcAft>
                <a:spcPts val="0"/>
              </a:spcAft>
            </a:pPr>
            <a:r>
              <a:rPr sz="1400" b="1">
                <a:solidFill>
                  <a:srgbClr val="111111"/>
                </a:solidFill>
                <a:latin typeface="Calibri"/>
              </a:rPr>
              <a:t>Vite</a:t>
            </a:r>
          </a:p>
        </p:txBody>
      </p:sp>
      <p:sp>
        <p:nvSpPr>
          <p:cNvPr id="22" name="TextBox 21"/>
          <p:cNvSpPr txBox="1"/>
          <p:nvPr/>
        </p:nvSpPr>
        <p:spPr>
          <a:xfrm>
            <a:off x="4352544" y="2743200"/>
            <a:ext cx="1728216" cy="411480"/>
          </a:xfrm>
          <a:prstGeom prst="rect">
            <a:avLst/>
          </a:prstGeom>
          <a:noFill/>
        </p:spPr>
        <p:txBody>
          <a:bodyPr wrap="square" lIns="0" rIns="0" tIns="0" bIns="0" anchor="t"/>
          <a:lstStyle/>
          <a:p>
            <a:pPr algn="ctr">
              <a:spcBef>
                <a:spcPts val="0"/>
              </a:spcBef>
              <a:spcAft>
                <a:spcPts val="0"/>
              </a:spcAft>
            </a:pPr>
            <a:r>
              <a:rPr sz="1200" b="0">
                <a:solidFill>
                  <a:srgbClr val="444444"/>
                </a:solidFill>
                <a:latin typeface="Calibri"/>
              </a:rPr>
              <a:t>The dev server.</a:t>
            </a:r>
          </a:p>
        </p:txBody>
      </p:sp>
      <p:sp>
        <p:nvSpPr>
          <p:cNvPr id="23" name="Rectangle 22"/>
          <p:cNvSpPr/>
          <p:nvPr/>
        </p:nvSpPr>
        <p:spPr>
          <a:xfrm>
            <a:off x="6236208" y="1115568"/>
            <a:ext cx="1874519" cy="2194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6208" y="1115568"/>
            <a:ext cx="1874519"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dotnet.png"/>
          <p:cNvPicPr>
            <a:picLocks noChangeAspect="1"/>
          </p:cNvPicPr>
          <p:nvPr/>
        </p:nvPicPr>
        <p:blipFill>
          <a:blip r:embed="rId5"/>
          <a:stretch>
            <a:fillRect/>
          </a:stretch>
        </p:blipFill>
        <p:spPr>
          <a:xfrm>
            <a:off x="6647688" y="1316736"/>
            <a:ext cx="1051560" cy="1051560"/>
          </a:xfrm>
          <a:prstGeom prst="rect">
            <a:avLst/>
          </a:prstGeom>
        </p:spPr>
      </p:pic>
      <p:sp>
        <p:nvSpPr>
          <p:cNvPr id="26" name="TextBox 25"/>
          <p:cNvSpPr txBox="1"/>
          <p:nvPr/>
        </p:nvSpPr>
        <p:spPr>
          <a:xfrm>
            <a:off x="6309360" y="2441448"/>
            <a:ext cx="1728216" cy="292608"/>
          </a:xfrm>
          <a:prstGeom prst="rect">
            <a:avLst/>
          </a:prstGeom>
          <a:noFill/>
        </p:spPr>
        <p:txBody>
          <a:bodyPr wrap="square" lIns="0" rIns="0" tIns="0" bIns="0" anchor="t"/>
          <a:lstStyle/>
          <a:p>
            <a:pPr algn="ctr">
              <a:spcBef>
                <a:spcPts val="0"/>
              </a:spcBef>
              <a:spcAft>
                <a:spcPts val="0"/>
              </a:spcAft>
            </a:pPr>
            <a:r>
              <a:rPr sz="1400" b="1">
                <a:solidFill>
                  <a:srgbClr val="111111"/>
                </a:solidFill>
                <a:latin typeface="Calibri"/>
              </a:rPr>
              <a:t>.NET 10</a:t>
            </a:r>
          </a:p>
        </p:txBody>
      </p:sp>
      <p:sp>
        <p:nvSpPr>
          <p:cNvPr id="27" name="TextBox 26"/>
          <p:cNvSpPr txBox="1"/>
          <p:nvPr/>
        </p:nvSpPr>
        <p:spPr>
          <a:xfrm>
            <a:off x="6309360" y="2743200"/>
            <a:ext cx="1728216" cy="411480"/>
          </a:xfrm>
          <a:prstGeom prst="rect">
            <a:avLst/>
          </a:prstGeom>
          <a:noFill/>
        </p:spPr>
        <p:txBody>
          <a:bodyPr wrap="square" lIns="0" rIns="0" tIns="0" bIns="0" anchor="t"/>
          <a:lstStyle/>
          <a:p>
            <a:pPr algn="ctr">
              <a:spcBef>
                <a:spcPts val="0"/>
              </a:spcBef>
              <a:spcAft>
                <a:spcPts val="0"/>
              </a:spcAft>
            </a:pPr>
            <a:r>
              <a:rPr sz="1200" b="0">
                <a:solidFill>
                  <a:srgbClr val="444444"/>
                </a:solidFill>
                <a:latin typeface="Calibri"/>
              </a:rPr>
              <a:t>The API. Port 5203.</a:t>
            </a:r>
          </a:p>
        </p:txBody>
      </p:sp>
      <p:sp>
        <p:nvSpPr>
          <p:cNvPr id="28" name="Rectangle 27"/>
          <p:cNvSpPr/>
          <p:nvPr/>
        </p:nvSpPr>
        <p:spPr>
          <a:xfrm>
            <a:off x="8193024" y="1115568"/>
            <a:ext cx="1874519" cy="2194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93024" y="1115568"/>
            <a:ext cx="1874519"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postgres.png"/>
          <p:cNvPicPr>
            <a:picLocks noChangeAspect="1"/>
          </p:cNvPicPr>
          <p:nvPr/>
        </p:nvPicPr>
        <p:blipFill>
          <a:blip r:embed="rId6"/>
          <a:stretch>
            <a:fillRect/>
          </a:stretch>
        </p:blipFill>
        <p:spPr>
          <a:xfrm>
            <a:off x="8604504" y="1316736"/>
            <a:ext cx="1051560" cy="1051560"/>
          </a:xfrm>
          <a:prstGeom prst="rect">
            <a:avLst/>
          </a:prstGeom>
        </p:spPr>
      </p:pic>
      <p:sp>
        <p:nvSpPr>
          <p:cNvPr id="31" name="TextBox 30"/>
          <p:cNvSpPr txBox="1"/>
          <p:nvPr/>
        </p:nvSpPr>
        <p:spPr>
          <a:xfrm>
            <a:off x="8266176" y="2441448"/>
            <a:ext cx="1728216" cy="292608"/>
          </a:xfrm>
          <a:prstGeom prst="rect">
            <a:avLst/>
          </a:prstGeom>
          <a:noFill/>
        </p:spPr>
        <p:txBody>
          <a:bodyPr wrap="square" lIns="0" rIns="0" tIns="0" bIns="0" anchor="t"/>
          <a:lstStyle/>
          <a:p>
            <a:pPr algn="ctr">
              <a:spcBef>
                <a:spcPts val="0"/>
              </a:spcBef>
              <a:spcAft>
                <a:spcPts val="0"/>
              </a:spcAft>
            </a:pPr>
            <a:r>
              <a:rPr sz="1400" b="1">
                <a:solidFill>
                  <a:srgbClr val="111111"/>
                </a:solidFill>
                <a:latin typeface="Calibri"/>
              </a:rPr>
              <a:t>PostgreSQL</a:t>
            </a:r>
          </a:p>
        </p:txBody>
      </p:sp>
      <p:sp>
        <p:nvSpPr>
          <p:cNvPr id="32" name="TextBox 31"/>
          <p:cNvSpPr txBox="1"/>
          <p:nvPr/>
        </p:nvSpPr>
        <p:spPr>
          <a:xfrm>
            <a:off x="8266176" y="2743200"/>
            <a:ext cx="1728216" cy="411480"/>
          </a:xfrm>
          <a:prstGeom prst="rect">
            <a:avLst/>
          </a:prstGeom>
          <a:noFill/>
        </p:spPr>
        <p:txBody>
          <a:bodyPr wrap="square" lIns="0" rIns="0" tIns="0" bIns="0" anchor="t"/>
          <a:lstStyle/>
          <a:p>
            <a:pPr algn="ctr">
              <a:spcBef>
                <a:spcPts val="0"/>
              </a:spcBef>
              <a:spcAft>
                <a:spcPts val="0"/>
              </a:spcAft>
            </a:pPr>
            <a:r>
              <a:rPr sz="1200" b="0">
                <a:solidFill>
                  <a:srgbClr val="444444"/>
                </a:solidFill>
                <a:latin typeface="Calibri"/>
              </a:rPr>
              <a:t>The database.</a:t>
            </a:r>
          </a:p>
        </p:txBody>
      </p:sp>
      <p:sp>
        <p:nvSpPr>
          <p:cNvPr id="33" name="Rectangle 32"/>
          <p:cNvSpPr/>
          <p:nvPr/>
        </p:nvSpPr>
        <p:spPr>
          <a:xfrm>
            <a:off x="10149840" y="1115568"/>
            <a:ext cx="1874519" cy="21945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49840" y="1115568"/>
            <a:ext cx="1874519"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python.png"/>
          <p:cNvPicPr>
            <a:picLocks noChangeAspect="1"/>
          </p:cNvPicPr>
          <p:nvPr/>
        </p:nvPicPr>
        <p:blipFill>
          <a:blip r:embed="rId7"/>
          <a:stretch>
            <a:fillRect/>
          </a:stretch>
        </p:blipFill>
        <p:spPr>
          <a:xfrm>
            <a:off x="10561320" y="1316736"/>
            <a:ext cx="1051560" cy="1051560"/>
          </a:xfrm>
          <a:prstGeom prst="rect">
            <a:avLst/>
          </a:prstGeom>
        </p:spPr>
      </p:pic>
      <p:sp>
        <p:nvSpPr>
          <p:cNvPr id="36" name="TextBox 35"/>
          <p:cNvSpPr txBox="1"/>
          <p:nvPr/>
        </p:nvSpPr>
        <p:spPr>
          <a:xfrm>
            <a:off x="10222992" y="2441448"/>
            <a:ext cx="1728216" cy="292608"/>
          </a:xfrm>
          <a:prstGeom prst="rect">
            <a:avLst/>
          </a:prstGeom>
          <a:noFill/>
        </p:spPr>
        <p:txBody>
          <a:bodyPr wrap="square" lIns="0" rIns="0" tIns="0" bIns="0" anchor="t"/>
          <a:lstStyle/>
          <a:p>
            <a:pPr algn="ctr">
              <a:spcBef>
                <a:spcPts val="0"/>
              </a:spcBef>
              <a:spcAft>
                <a:spcPts val="0"/>
              </a:spcAft>
            </a:pPr>
            <a:r>
              <a:rPr sz="1400" b="1">
                <a:solidFill>
                  <a:srgbClr val="111111"/>
                </a:solidFill>
                <a:latin typeface="Calibri"/>
              </a:rPr>
              <a:t>Python</a:t>
            </a:r>
          </a:p>
        </p:txBody>
      </p:sp>
      <p:sp>
        <p:nvSpPr>
          <p:cNvPr id="37" name="TextBox 36"/>
          <p:cNvSpPr txBox="1"/>
          <p:nvPr/>
        </p:nvSpPr>
        <p:spPr>
          <a:xfrm>
            <a:off x="10222992" y="2743200"/>
            <a:ext cx="1728216" cy="411480"/>
          </a:xfrm>
          <a:prstGeom prst="rect">
            <a:avLst/>
          </a:prstGeom>
          <a:noFill/>
        </p:spPr>
        <p:txBody>
          <a:bodyPr wrap="square" lIns="0" rIns="0" tIns="0" bIns="0" anchor="t"/>
          <a:lstStyle/>
          <a:p>
            <a:pPr algn="ctr">
              <a:spcBef>
                <a:spcPts val="0"/>
              </a:spcBef>
              <a:spcAft>
                <a:spcPts val="0"/>
              </a:spcAft>
            </a:pPr>
            <a:r>
              <a:rPr sz="1200" b="0">
                <a:solidFill>
                  <a:srgbClr val="444444"/>
                </a:solidFill>
                <a:latin typeface="Calibri"/>
              </a:rPr>
              <a:t>Aura. Port 8000.</a:t>
            </a:r>
          </a:p>
        </p:txBody>
      </p:sp>
      <p:sp>
        <p:nvSpPr>
          <p:cNvPr id="38" name="TextBox 37"/>
          <p:cNvSpPr txBox="1"/>
          <p:nvPr/>
        </p:nvSpPr>
        <p:spPr>
          <a:xfrm>
            <a:off x="502920" y="3429000"/>
            <a:ext cx="11155680" cy="320040"/>
          </a:xfrm>
          <a:prstGeom prst="rect">
            <a:avLst/>
          </a:prstGeom>
          <a:noFill/>
        </p:spPr>
        <p:txBody>
          <a:bodyPr wrap="square" lIns="0" rIns="0" tIns="0" bIns="0" anchor="t"/>
          <a:lstStyle/>
          <a:p>
            <a:pPr algn="l">
              <a:spcBef>
                <a:spcPts val="0"/>
              </a:spcBef>
              <a:spcAft>
                <a:spcPts val="0"/>
              </a:spcAft>
            </a:pPr>
            <a:r>
              <a:rPr sz="1500" b="0">
                <a:solidFill>
                  <a:srgbClr val="444444"/>
                </a:solidFill>
                <a:latin typeface="Calibri"/>
              </a:rPr>
              <a:t>The page calls the API. The API calls PostgreSQL and, when needed, Aura.</a:t>
            </a:r>
          </a:p>
        </p:txBody>
      </p:sp>
      <p:sp>
        <p:nvSpPr>
          <p:cNvPr id="39" name="Rectangle 38"/>
          <p:cNvSpPr/>
          <p:nvPr/>
        </p:nvSpPr>
        <p:spPr>
          <a:xfrm>
            <a:off x="502920" y="3886200"/>
            <a:ext cx="5532120" cy="228600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3886200"/>
            <a:ext cx="553212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4069080"/>
            <a:ext cx="512064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JWT</a:t>
            </a:r>
          </a:p>
        </p:txBody>
      </p:sp>
      <p:sp>
        <p:nvSpPr>
          <p:cNvPr id="42" name="TextBox 41"/>
          <p:cNvSpPr txBox="1"/>
          <p:nvPr/>
        </p:nvSpPr>
        <p:spPr>
          <a:xfrm>
            <a:off x="713232" y="4480560"/>
            <a:ext cx="5120640" cy="146304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JwtBearer checks issuer, audience, lifetime, and the signing key.</a:t>
            </a:r>
          </a:p>
          <a:p>
            <a:pPr algn="l">
              <a:spcBef>
                <a:spcPts val="0"/>
              </a:spcBef>
              <a:spcAft>
                <a:spcPts val="0"/>
              </a:spcAft>
            </a:pPr>
            <a:r>
              <a:rPr sz="1400" b="0">
                <a:solidFill>
                  <a:srgbClr val="111111"/>
                </a:solidFill>
                <a:latin typeface="Calibri"/>
              </a:rPr>
              <a:t>A good sign-in returns an access token and a refresh token.</a:t>
            </a:r>
          </a:p>
          <a:p>
            <a:pPr algn="l">
              <a:spcBef>
                <a:spcPts val="0"/>
              </a:spcBef>
              <a:spcAft>
                <a:spcPts val="0"/>
              </a:spcAft>
            </a:pPr>
            <a:r>
              <a:rPr sz="1400" b="0">
                <a:solidFill>
                  <a:srgbClr val="111111"/>
                </a:solidFill>
                <a:latin typeface="Calibri"/>
              </a:rPr>
              <a:t>No token on a protected route returns 401.</a:t>
            </a:r>
          </a:p>
        </p:txBody>
      </p:sp>
      <p:sp>
        <p:nvSpPr>
          <p:cNvPr id="43" name="Rectangle 42"/>
          <p:cNvSpPr/>
          <p:nvPr/>
        </p:nvSpPr>
        <p:spPr>
          <a:xfrm>
            <a:off x="6217920" y="3886200"/>
            <a:ext cx="5440680" cy="228600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17920" y="3886200"/>
            <a:ext cx="5440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46520" y="4069080"/>
            <a:ext cx="502920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Password is hashed</a:t>
            </a:r>
          </a:p>
        </p:txBody>
      </p:sp>
      <p:sp>
        <p:nvSpPr>
          <p:cNvPr id="46" name="TextBox 45"/>
          <p:cNvSpPr txBox="1"/>
          <p:nvPr/>
        </p:nvSpPr>
        <p:spPr>
          <a:xfrm>
            <a:off x="6446520" y="4480560"/>
            <a:ext cx="5029200" cy="146304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Identity writes PasswordHash. Sign-in compares the hash.</a:t>
            </a:r>
          </a:p>
          <a:p>
            <a:pPr algn="l">
              <a:spcBef>
                <a:spcPts val="0"/>
              </a:spcBef>
              <a:spcAft>
                <a:spcPts val="0"/>
              </a:spcAft>
            </a:pPr>
            <a:r>
              <a:rPr sz="1400" b="0">
                <a:solidFill>
                  <a:srgbClr val="111111"/>
                </a:solidFill>
                <a:latin typeface="Calibri"/>
              </a:rPr>
              <a:t>At least 8 characters, with upper, lower, and a digit.</a:t>
            </a:r>
          </a:p>
          <a:p>
            <a:pPr algn="l">
              <a:spcBef>
                <a:spcPts val="0"/>
              </a:spcBef>
              <a:spcAft>
                <a:spcPts val="0"/>
              </a:spcAft>
            </a:pPr>
            <a:r>
              <a:rPr sz="1400" b="0">
                <a:solidFill>
                  <a:srgbClr val="111111"/>
                </a:solidFill>
                <a:latin typeface="Calibri"/>
              </a:rPr>
              <a:t>Five failures lock the account for 15 minutes.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Architecture</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5</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pic>
        <p:nvPicPr>
          <p:cNvPr id="8" name="Picture 7" descr="diagram-architecture.png"/>
          <p:cNvPicPr>
            <a:picLocks noChangeAspect="1"/>
          </p:cNvPicPr>
          <p:nvPr/>
        </p:nvPicPr>
        <p:blipFill>
          <a:blip r:embed="rId2"/>
          <a:stretch>
            <a:fillRect/>
          </a:stretch>
        </p:blipFill>
        <p:spPr>
          <a:xfrm>
            <a:off x="344978" y="1024128"/>
            <a:ext cx="11471563" cy="5257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Database design and integrity</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6</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TextBox 7"/>
          <p:cNvSpPr txBox="1"/>
          <p:nvPr/>
        </p:nvSpPr>
        <p:spPr>
          <a:xfrm>
            <a:off x="502920" y="1078992"/>
            <a:ext cx="11155680" cy="320040"/>
          </a:xfrm>
          <a:prstGeom prst="rect">
            <a:avLst/>
          </a:prstGeom>
          <a:noFill/>
        </p:spPr>
        <p:txBody>
          <a:bodyPr wrap="square" lIns="0" rIns="0" tIns="0" bIns="0" anchor="t"/>
          <a:lstStyle/>
          <a:p>
            <a:pPr algn="l">
              <a:spcBef>
                <a:spcPts val="0"/>
              </a:spcBef>
              <a:spcAft>
                <a:spcPts val="0"/>
              </a:spcAft>
            </a:pPr>
            <a:r>
              <a:rPr sz="1600" b="0">
                <a:solidFill>
                  <a:srgbClr val="444444"/>
                </a:solidFill>
                <a:latin typeface="Calibri"/>
              </a:rPr>
              <a:t>Third normal form. Each fact is stored once.</a:t>
            </a:r>
          </a:p>
        </p:txBody>
      </p:sp>
      <p:sp>
        <p:nvSpPr>
          <p:cNvPr id="9" name="Rectangle 8"/>
          <p:cNvSpPr/>
          <p:nvPr/>
        </p:nvSpPr>
        <p:spPr>
          <a:xfrm>
            <a:off x="502920" y="1600200"/>
            <a:ext cx="210312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746504"/>
            <a:ext cx="210312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Users</a:t>
            </a:r>
          </a:p>
        </p:txBody>
      </p:sp>
      <p:sp>
        <p:nvSpPr>
          <p:cNvPr id="11" name="TextBox 10"/>
          <p:cNvSpPr txBox="1"/>
          <p:nvPr/>
        </p:nvSpPr>
        <p:spPr>
          <a:xfrm>
            <a:off x="2651760" y="1737360"/>
            <a:ext cx="64008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1 → *</a:t>
            </a:r>
          </a:p>
        </p:txBody>
      </p:sp>
      <p:sp>
        <p:nvSpPr>
          <p:cNvPr id="12" name="Rectangle 11"/>
          <p:cNvSpPr/>
          <p:nvPr/>
        </p:nvSpPr>
        <p:spPr>
          <a:xfrm>
            <a:off x="3291840" y="1600200"/>
            <a:ext cx="228600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1746504"/>
            <a:ext cx="228600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Jobs</a:t>
            </a:r>
          </a:p>
        </p:txBody>
      </p:sp>
      <p:sp>
        <p:nvSpPr>
          <p:cNvPr id="14" name="TextBox 13"/>
          <p:cNvSpPr txBox="1"/>
          <p:nvPr/>
        </p:nvSpPr>
        <p:spPr>
          <a:xfrm>
            <a:off x="5623560" y="1737360"/>
            <a:ext cx="64008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1 → *</a:t>
            </a:r>
          </a:p>
        </p:txBody>
      </p:sp>
      <p:sp>
        <p:nvSpPr>
          <p:cNvPr id="15" name="Rectangle 14"/>
          <p:cNvSpPr/>
          <p:nvPr/>
        </p:nvSpPr>
        <p:spPr>
          <a:xfrm>
            <a:off x="6309360" y="1600200"/>
            <a:ext cx="219456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746504"/>
            <a:ext cx="219456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Shifts</a:t>
            </a:r>
          </a:p>
        </p:txBody>
      </p:sp>
      <p:sp>
        <p:nvSpPr>
          <p:cNvPr id="17" name="TextBox 16"/>
          <p:cNvSpPr txBox="1"/>
          <p:nvPr/>
        </p:nvSpPr>
        <p:spPr>
          <a:xfrm>
            <a:off x="8686800" y="1691640"/>
            <a:ext cx="3017520" cy="502920"/>
          </a:xfrm>
          <a:prstGeom prst="rect">
            <a:avLst/>
          </a:prstGeom>
          <a:noFill/>
        </p:spPr>
        <p:txBody>
          <a:bodyPr wrap="square" lIns="0" rIns="0" tIns="0" bIns="0" anchor="t"/>
          <a:lstStyle/>
          <a:p>
            <a:pPr algn="l">
              <a:spcBef>
                <a:spcPts val="0"/>
              </a:spcBef>
              <a:spcAft>
                <a:spcPts val="0"/>
              </a:spcAft>
            </a:pPr>
            <a:r>
              <a:rPr sz="1400" b="0">
                <a:solidFill>
                  <a:srgbClr val="444444"/>
                </a:solidFill>
                <a:latin typeface="Calibri"/>
              </a:rPr>
              <a:t>Rate stays on the job.</a:t>
            </a:r>
          </a:p>
        </p:txBody>
      </p:sp>
      <p:sp>
        <p:nvSpPr>
          <p:cNvPr id="18" name="Rectangle 17"/>
          <p:cNvSpPr/>
          <p:nvPr/>
        </p:nvSpPr>
        <p:spPr>
          <a:xfrm>
            <a:off x="502920" y="2606040"/>
            <a:ext cx="210312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752344"/>
            <a:ext cx="210312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Users</a:t>
            </a:r>
          </a:p>
        </p:txBody>
      </p:sp>
      <p:sp>
        <p:nvSpPr>
          <p:cNvPr id="20" name="TextBox 19"/>
          <p:cNvSpPr txBox="1"/>
          <p:nvPr/>
        </p:nvSpPr>
        <p:spPr>
          <a:xfrm>
            <a:off x="2606040" y="2743200"/>
            <a:ext cx="68580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1 → *</a:t>
            </a:r>
          </a:p>
        </p:txBody>
      </p:sp>
      <p:sp>
        <p:nvSpPr>
          <p:cNvPr id="21" name="Rectangle 20"/>
          <p:cNvSpPr/>
          <p:nvPr/>
        </p:nvSpPr>
        <p:spPr>
          <a:xfrm>
            <a:off x="3291840" y="2606040"/>
            <a:ext cx="246888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2752344"/>
            <a:ext cx="246888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Categories</a:t>
            </a:r>
          </a:p>
        </p:txBody>
      </p:sp>
      <p:sp>
        <p:nvSpPr>
          <p:cNvPr id="23" name="TextBox 22"/>
          <p:cNvSpPr txBox="1"/>
          <p:nvPr/>
        </p:nvSpPr>
        <p:spPr>
          <a:xfrm>
            <a:off x="5806440" y="2743200"/>
            <a:ext cx="64008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1 → *</a:t>
            </a:r>
          </a:p>
        </p:txBody>
      </p:sp>
      <p:sp>
        <p:nvSpPr>
          <p:cNvPr id="24" name="Rectangle 23"/>
          <p:cNvSpPr/>
          <p:nvPr/>
        </p:nvSpPr>
        <p:spPr>
          <a:xfrm>
            <a:off x="6446520" y="2606040"/>
            <a:ext cx="210312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752344"/>
            <a:ext cx="210312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Expenses</a:t>
            </a:r>
          </a:p>
        </p:txBody>
      </p:sp>
      <p:sp>
        <p:nvSpPr>
          <p:cNvPr id="26" name="TextBox 25"/>
          <p:cNvSpPr txBox="1"/>
          <p:nvPr/>
        </p:nvSpPr>
        <p:spPr>
          <a:xfrm>
            <a:off x="8595360" y="2743200"/>
            <a:ext cx="77724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 ← 1</a:t>
            </a:r>
          </a:p>
        </p:txBody>
      </p:sp>
      <p:sp>
        <p:nvSpPr>
          <p:cNvPr id="27" name="Rectangle 26"/>
          <p:cNvSpPr/>
          <p:nvPr/>
        </p:nvSpPr>
        <p:spPr>
          <a:xfrm>
            <a:off x="9372600" y="2606040"/>
            <a:ext cx="228600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72600" y="2752344"/>
            <a:ext cx="228600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Pay methods</a:t>
            </a:r>
          </a:p>
        </p:txBody>
      </p:sp>
      <p:sp>
        <p:nvSpPr>
          <p:cNvPr id="29" name="Rectangle 28"/>
          <p:cNvSpPr/>
          <p:nvPr/>
        </p:nvSpPr>
        <p:spPr>
          <a:xfrm>
            <a:off x="502920" y="3611880"/>
            <a:ext cx="173736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3758184"/>
            <a:ext cx="173736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Users</a:t>
            </a:r>
          </a:p>
        </p:txBody>
      </p:sp>
      <p:sp>
        <p:nvSpPr>
          <p:cNvPr id="31" name="TextBox 30"/>
          <p:cNvSpPr txBox="1"/>
          <p:nvPr/>
        </p:nvSpPr>
        <p:spPr>
          <a:xfrm>
            <a:off x="2240280" y="3749039"/>
            <a:ext cx="64008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1 → *</a:t>
            </a:r>
          </a:p>
        </p:txBody>
      </p:sp>
      <p:sp>
        <p:nvSpPr>
          <p:cNvPr id="32" name="Rectangle 31"/>
          <p:cNvSpPr/>
          <p:nvPr/>
        </p:nvSpPr>
        <p:spPr>
          <a:xfrm>
            <a:off x="2880360" y="3611880"/>
            <a:ext cx="233172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0360" y="3758184"/>
            <a:ext cx="233172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Savings goals</a:t>
            </a:r>
          </a:p>
        </p:txBody>
      </p:sp>
      <p:sp>
        <p:nvSpPr>
          <p:cNvPr id="34" name="Rectangle 33"/>
          <p:cNvSpPr/>
          <p:nvPr/>
        </p:nvSpPr>
        <p:spPr>
          <a:xfrm>
            <a:off x="5623560" y="3611880"/>
            <a:ext cx="173736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23560" y="3758184"/>
            <a:ext cx="173736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Users</a:t>
            </a:r>
          </a:p>
        </p:txBody>
      </p:sp>
      <p:sp>
        <p:nvSpPr>
          <p:cNvPr id="36" name="TextBox 35"/>
          <p:cNvSpPr txBox="1"/>
          <p:nvPr/>
        </p:nvSpPr>
        <p:spPr>
          <a:xfrm>
            <a:off x="7360920" y="3749039"/>
            <a:ext cx="822960" cy="365760"/>
          </a:xfrm>
          <a:prstGeom prst="rect">
            <a:avLst/>
          </a:prstGeom>
          <a:noFill/>
        </p:spPr>
        <p:txBody>
          <a:bodyPr wrap="square" lIns="0" rIns="0" tIns="0" bIns="0" anchor="t"/>
          <a:lstStyle/>
          <a:p>
            <a:pPr algn="ctr">
              <a:spcBef>
                <a:spcPts val="0"/>
              </a:spcBef>
              <a:spcAft>
                <a:spcPts val="0"/>
              </a:spcAft>
            </a:pPr>
            <a:r>
              <a:rPr sz="1400" b="0">
                <a:solidFill>
                  <a:srgbClr val="444444"/>
                </a:solidFill>
                <a:latin typeface="Calibri"/>
              </a:rPr>
              <a:t>1 → 0..1</a:t>
            </a:r>
          </a:p>
        </p:txBody>
      </p:sp>
      <p:sp>
        <p:nvSpPr>
          <p:cNvPr id="37" name="Rectangle 36"/>
          <p:cNvSpPr/>
          <p:nvPr/>
        </p:nvSpPr>
        <p:spPr>
          <a:xfrm>
            <a:off x="8183879" y="3611880"/>
            <a:ext cx="2286000" cy="64008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79" y="3758184"/>
            <a:ext cx="2286000" cy="365760"/>
          </a:xfrm>
          <a:prstGeom prst="rect">
            <a:avLst/>
          </a:prstGeom>
          <a:noFill/>
        </p:spPr>
        <p:txBody>
          <a:bodyPr wrap="square" lIns="0" rIns="0" tIns="0" bIns="0" anchor="t"/>
          <a:lstStyle/>
          <a:p>
            <a:pPr algn="ctr">
              <a:spcBef>
                <a:spcPts val="0"/>
              </a:spcBef>
              <a:spcAft>
                <a:spcPts val="0"/>
              </a:spcAft>
            </a:pPr>
            <a:r>
              <a:rPr sz="1600" b="1">
                <a:solidFill>
                  <a:srgbClr val="111111"/>
                </a:solidFill>
                <a:latin typeface="Calibri"/>
              </a:rPr>
              <a:t>Live shift</a:t>
            </a:r>
          </a:p>
        </p:txBody>
      </p:sp>
      <p:sp>
        <p:nvSpPr>
          <p:cNvPr id="39" name="Rectangle 38"/>
          <p:cNvSpPr/>
          <p:nvPr/>
        </p:nvSpPr>
        <p:spPr>
          <a:xfrm>
            <a:off x="502920" y="4617720"/>
            <a:ext cx="11155680" cy="15544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 y="4617720"/>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828032"/>
            <a:ext cx="10698480" cy="118872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An expense stores a category and a payment method. The category belongs to the user. A shift stores the job.</a:t>
            </a:r>
          </a:p>
          <a:p>
            <a:pPr algn="l">
              <a:spcBef>
                <a:spcPts val="0"/>
              </a:spcBef>
              <a:spcAft>
                <a:spcPts val="0"/>
              </a:spcAft>
            </a:pPr>
            <a:r>
              <a:rPr sz="1600" b="0">
                <a:solidFill>
                  <a:srgbClr val="111111"/>
                </a:solidFill>
                <a:latin typeface="Calibri"/>
              </a:rPr>
              <a:t>Foreign keys and delete rules are in ApplicationDbContext. The hourly rate stays on the job.</a:t>
            </a:r>
          </a:p>
          <a:p>
            <a:pPr algn="l">
              <a:spcBef>
                <a:spcPts val="0"/>
              </a:spcBef>
              <a:spcAft>
                <a:spcPts val="0"/>
              </a:spcAft>
            </a:pPr>
            <a:r>
              <a:rPr sz="1600" b="0">
                <a:solidFill>
                  <a:srgbClr val="111111"/>
                </a:solidFill>
                <a:latin typeface="Calibri"/>
              </a:rPr>
              <a:t>48 hours is a sum of shift hours over the last 14 days. It is not a column.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Entity relationship diagram</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7</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pic>
        <p:nvPicPr>
          <p:cNvPr id="8" name="Picture 7" descr="diagram-erd.png"/>
          <p:cNvPicPr>
            <a:picLocks noChangeAspect="1"/>
          </p:cNvPicPr>
          <p:nvPr/>
        </p:nvPicPr>
        <p:blipFill>
          <a:blip r:embed="rId2"/>
          <a:stretch>
            <a:fillRect/>
          </a:stretch>
        </p:blipFill>
        <p:spPr>
          <a:xfrm>
            <a:off x="344978" y="1024128"/>
            <a:ext cx="11471563" cy="5257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Normalization</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8</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pic>
        <p:nvPicPr>
          <p:cNvPr id="8" name="Picture 7" descr="diagram-normalization.png"/>
          <p:cNvPicPr>
            <a:picLocks noChangeAspect="1"/>
          </p:cNvPicPr>
          <p:nvPr/>
        </p:nvPicPr>
        <p:blipFill>
          <a:blip r:embed="rId2"/>
          <a:stretch>
            <a:fillRect/>
          </a:stretch>
        </p:blipFill>
        <p:spPr>
          <a:xfrm>
            <a:off x="344978" y="1024128"/>
            <a:ext cx="11471563" cy="5257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Use case</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9</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pic>
        <p:nvPicPr>
          <p:cNvPr id="8" name="Picture 7" descr="diagram-usecase.png"/>
          <p:cNvPicPr>
            <a:picLocks noChangeAspect="1"/>
          </p:cNvPicPr>
          <p:nvPr/>
        </p:nvPicPr>
        <p:blipFill>
          <a:blip r:embed="rId2"/>
          <a:stretch>
            <a:fillRect/>
          </a:stretch>
        </p:blipFill>
        <p:spPr>
          <a:xfrm>
            <a:off x="344978" y="1024128"/>
            <a:ext cx="11471563" cy="5257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Sequence: saving a shift</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10</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pic>
        <p:nvPicPr>
          <p:cNvPr id="8" name="Picture 7" descr="diagram-sequence.png"/>
          <p:cNvPicPr>
            <a:picLocks noChangeAspect="1"/>
          </p:cNvPicPr>
          <p:nvPr/>
        </p:nvPicPr>
        <p:blipFill>
          <a:blip r:embed="rId2"/>
          <a:stretch>
            <a:fillRect/>
          </a:stretch>
        </p:blipFill>
        <p:spPr>
          <a:xfrm>
            <a:off x="344978" y="1024128"/>
            <a:ext cx="11471563" cy="5257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Security and quality assurance</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11</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Rectangle 7"/>
          <p:cNvSpPr/>
          <p:nvPr/>
        </p:nvSpPr>
        <p:spPr>
          <a:xfrm>
            <a:off x="502920" y="1143000"/>
            <a:ext cx="26974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1430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98448"/>
            <a:ext cx="2423160" cy="3657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1  Sign in</a:t>
            </a:r>
          </a:p>
        </p:txBody>
      </p:sp>
      <p:sp>
        <p:nvSpPr>
          <p:cNvPr id="11" name="TextBox 10"/>
          <p:cNvSpPr txBox="1"/>
          <p:nvPr/>
        </p:nvSpPr>
        <p:spPr>
          <a:xfrm>
            <a:off x="649224" y="1737360"/>
            <a:ext cx="2423160" cy="1554480"/>
          </a:xfrm>
          <a:prstGeom prst="rect">
            <a:avLst/>
          </a:prstGeom>
          <a:noFill/>
        </p:spPr>
        <p:txBody>
          <a:bodyPr wrap="square" lIns="0" rIns="0" tIns="0" bIns="0" anchor="t"/>
          <a:lstStyle/>
          <a:p>
            <a:pPr algn="l">
              <a:spcBef>
                <a:spcPts val="0"/>
              </a:spcBef>
              <a:spcAft>
                <a:spcPts val="0"/>
              </a:spcAft>
            </a:pPr>
            <a:r>
              <a:rPr sz="1300" b="0">
                <a:solidFill>
                  <a:srgbClr val="111111"/>
                </a:solidFill>
                <a:latin typeface="Calibri"/>
              </a:rPr>
              <a:t>Identity stores PasswordHash.</a:t>
            </a:r>
          </a:p>
          <a:p>
            <a:pPr algn="l">
              <a:spcBef>
                <a:spcPts val="0"/>
              </a:spcBef>
              <a:spcAft>
                <a:spcPts val="0"/>
              </a:spcAft>
            </a:pPr>
            <a:r>
              <a:rPr sz="1300" b="0">
                <a:solidFill>
                  <a:srgbClr val="111111"/>
                </a:solidFill>
                <a:latin typeface="Calibri"/>
              </a:rPr>
              <a:t>The typed password is not saved.</a:t>
            </a:r>
          </a:p>
          <a:p>
            <a:pPr algn="l">
              <a:spcBef>
                <a:spcPts val="0"/>
              </a:spcBef>
              <a:spcAft>
                <a:spcPts val="0"/>
              </a:spcAft>
            </a:pPr>
            <a:r>
              <a:rPr sz="1300" b="0">
                <a:solidFill>
                  <a:srgbClr val="111111"/>
                </a:solidFill>
                <a:latin typeface="Calibri"/>
              </a:rPr>
              <a:t>A good sign-in returns a JWT.</a:t>
            </a:r>
          </a:p>
        </p:txBody>
      </p:sp>
      <p:sp>
        <p:nvSpPr>
          <p:cNvPr id="12" name="Rectangle 11"/>
          <p:cNvSpPr/>
          <p:nvPr/>
        </p:nvSpPr>
        <p:spPr>
          <a:xfrm>
            <a:off x="3383280" y="1143000"/>
            <a:ext cx="26974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11430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9584" y="1298448"/>
            <a:ext cx="2423160" cy="3657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2  Approval</a:t>
            </a:r>
          </a:p>
        </p:txBody>
      </p:sp>
      <p:sp>
        <p:nvSpPr>
          <p:cNvPr id="15" name="TextBox 14"/>
          <p:cNvSpPr txBox="1"/>
          <p:nvPr/>
        </p:nvSpPr>
        <p:spPr>
          <a:xfrm>
            <a:off x="3529584" y="1737360"/>
            <a:ext cx="2423160" cy="1554480"/>
          </a:xfrm>
          <a:prstGeom prst="rect">
            <a:avLst/>
          </a:prstGeom>
          <a:noFill/>
        </p:spPr>
        <p:txBody>
          <a:bodyPr wrap="square" lIns="0" rIns="0" tIns="0" bIns="0" anchor="t"/>
          <a:lstStyle/>
          <a:p>
            <a:pPr algn="l">
              <a:spcBef>
                <a:spcPts val="0"/>
              </a:spcBef>
              <a:spcAft>
                <a:spcPts val="0"/>
              </a:spcAft>
            </a:pPr>
            <a:r>
              <a:rPr sz="1300" b="0">
                <a:solidFill>
                  <a:srgbClr val="111111"/>
                </a:solidFill>
                <a:latin typeface="Calibri"/>
              </a:rPr>
              <a:t>New accounts are Pending.</a:t>
            </a:r>
          </a:p>
          <a:p>
            <a:pPr algn="l">
              <a:spcBef>
                <a:spcPts val="0"/>
              </a:spcBef>
              <a:spcAft>
                <a:spcPts val="0"/>
              </a:spcAft>
            </a:pPr>
            <a:r>
              <a:rPr sz="1300" b="0">
                <a:solidFill>
                  <a:srgbClr val="111111"/>
                </a:solidFill>
                <a:latin typeface="Calibri"/>
              </a:rPr>
              <a:t>Pending and Rejected get no token.</a:t>
            </a:r>
          </a:p>
          <a:p>
            <a:pPr algn="l">
              <a:spcBef>
                <a:spcPts val="0"/>
              </a:spcBef>
              <a:spcAft>
                <a:spcPts val="0"/>
              </a:spcAft>
            </a:pPr>
            <a:r>
              <a:rPr sz="1300" b="0">
                <a:solidFill>
                  <a:srgbClr val="111111"/>
                </a:solidFill>
                <a:latin typeface="Calibri"/>
              </a:rPr>
              <a:t>An admin approves first.</a:t>
            </a:r>
          </a:p>
        </p:txBody>
      </p:sp>
      <p:sp>
        <p:nvSpPr>
          <p:cNvPr id="16" name="Rectangle 15"/>
          <p:cNvSpPr/>
          <p:nvPr/>
        </p:nvSpPr>
        <p:spPr>
          <a:xfrm>
            <a:off x="6263640" y="1143000"/>
            <a:ext cx="26974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1430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298448"/>
            <a:ext cx="2423160" cy="3657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3  Role</a:t>
            </a:r>
          </a:p>
        </p:txBody>
      </p:sp>
      <p:sp>
        <p:nvSpPr>
          <p:cNvPr id="19" name="TextBox 18"/>
          <p:cNvSpPr txBox="1"/>
          <p:nvPr/>
        </p:nvSpPr>
        <p:spPr>
          <a:xfrm>
            <a:off x="6409944" y="1737360"/>
            <a:ext cx="2423160" cy="1554480"/>
          </a:xfrm>
          <a:prstGeom prst="rect">
            <a:avLst/>
          </a:prstGeom>
          <a:noFill/>
        </p:spPr>
        <p:txBody>
          <a:bodyPr wrap="square" lIns="0" rIns="0" tIns="0" bIns="0" anchor="t"/>
          <a:lstStyle/>
          <a:p>
            <a:pPr algn="l">
              <a:spcBef>
                <a:spcPts val="0"/>
              </a:spcBef>
              <a:spcAft>
                <a:spcPts val="0"/>
              </a:spcAft>
            </a:pPr>
            <a:r>
              <a:rPr sz="1300" b="0">
                <a:solidFill>
                  <a:srgbClr val="111111"/>
                </a:solidFill>
                <a:latin typeface="Calibri"/>
              </a:rPr>
              <a:t>Most routes need a token.</a:t>
            </a:r>
          </a:p>
          <a:p>
            <a:pPr algn="l">
              <a:spcBef>
                <a:spcPts val="0"/>
              </a:spcBef>
              <a:spcAft>
                <a:spcPts val="0"/>
              </a:spcAft>
            </a:pPr>
            <a:r>
              <a:rPr sz="1300" b="0">
                <a:solidFill>
                  <a:srgbClr val="111111"/>
                </a:solidFill>
                <a:latin typeface="Calibri"/>
              </a:rPr>
              <a:t>Admin routes also need</a:t>
            </a:r>
          </a:p>
          <a:p>
            <a:pPr algn="l">
              <a:spcBef>
                <a:spcPts val="0"/>
              </a:spcBef>
              <a:spcAft>
                <a:spcPts val="0"/>
              </a:spcAft>
            </a:pPr>
            <a:r>
              <a:rPr sz="1300" b="0">
                <a:solidFill>
                  <a:srgbClr val="111111"/>
                </a:solidFill>
                <a:latin typeface="Calibri"/>
              </a:rPr>
              <a:t>the Admin role.</a:t>
            </a:r>
          </a:p>
        </p:txBody>
      </p:sp>
      <p:sp>
        <p:nvSpPr>
          <p:cNvPr id="20" name="Rectangle 19"/>
          <p:cNvSpPr/>
          <p:nvPr/>
        </p:nvSpPr>
        <p:spPr>
          <a:xfrm>
            <a:off x="9144000" y="1143000"/>
            <a:ext cx="26974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0" y="11430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0304" y="1298448"/>
            <a:ext cx="2423160" cy="365760"/>
          </a:xfrm>
          <a:prstGeom prst="rect">
            <a:avLst/>
          </a:prstGeom>
          <a:noFill/>
        </p:spPr>
        <p:txBody>
          <a:bodyPr wrap="square" lIns="0" rIns="0" tIns="0" bIns="0" anchor="t"/>
          <a:lstStyle/>
          <a:p>
            <a:pPr algn="l">
              <a:spcBef>
                <a:spcPts val="0"/>
              </a:spcBef>
              <a:spcAft>
                <a:spcPts val="0"/>
              </a:spcAft>
            </a:pPr>
            <a:r>
              <a:rPr sz="1600" b="1">
                <a:solidFill>
                  <a:srgbClr val="111111"/>
                </a:solidFill>
                <a:latin typeface="Calibri"/>
              </a:rPr>
              <a:t>4  Own data</a:t>
            </a:r>
          </a:p>
        </p:txBody>
      </p:sp>
      <p:sp>
        <p:nvSpPr>
          <p:cNvPr id="23" name="TextBox 22"/>
          <p:cNvSpPr txBox="1"/>
          <p:nvPr/>
        </p:nvSpPr>
        <p:spPr>
          <a:xfrm>
            <a:off x="9290304" y="1737360"/>
            <a:ext cx="2423160" cy="1554480"/>
          </a:xfrm>
          <a:prstGeom prst="rect">
            <a:avLst/>
          </a:prstGeom>
          <a:noFill/>
        </p:spPr>
        <p:txBody>
          <a:bodyPr wrap="square" lIns="0" rIns="0" tIns="0" bIns="0" anchor="t"/>
          <a:lstStyle/>
          <a:p>
            <a:pPr algn="l">
              <a:spcBef>
                <a:spcPts val="0"/>
              </a:spcBef>
              <a:spcAft>
                <a:spcPts val="0"/>
              </a:spcAft>
            </a:pPr>
            <a:r>
              <a:rPr sz="1300" b="0">
                <a:solidFill>
                  <a:srgbClr val="111111"/>
                </a:solidFill>
                <a:latin typeface="Calibri"/>
              </a:rPr>
              <a:t>A query is limited to that user.</a:t>
            </a:r>
          </a:p>
          <a:p>
            <a:pPr algn="l">
              <a:spcBef>
                <a:spcPts val="0"/>
              </a:spcBef>
              <a:spcAft>
                <a:spcPts val="0"/>
              </a:spcAft>
            </a:pPr>
            <a:r>
              <a:rPr sz="1300" b="0">
                <a:solidFill>
                  <a:srgbClr val="111111"/>
                </a:solidFill>
                <a:latin typeface="Calibri"/>
              </a:rPr>
              <a:t>One student cannot read</a:t>
            </a:r>
          </a:p>
          <a:p>
            <a:pPr algn="l">
              <a:spcBef>
                <a:spcPts val="0"/>
              </a:spcBef>
              <a:spcAft>
                <a:spcPts val="0"/>
              </a:spcAft>
            </a:pPr>
            <a:r>
              <a:rPr sz="1300" b="0">
                <a:solidFill>
                  <a:srgbClr val="111111"/>
                </a:solidFill>
                <a:latin typeface="Calibri"/>
              </a:rPr>
              <a:t>another student's pay.</a:t>
            </a:r>
          </a:p>
        </p:txBody>
      </p:sp>
      <p:sp>
        <p:nvSpPr>
          <p:cNvPr id="24" name="Rectangle 23"/>
          <p:cNvSpPr/>
          <p:nvPr/>
        </p:nvSpPr>
        <p:spPr>
          <a:xfrm>
            <a:off x="502920" y="3703320"/>
            <a:ext cx="548640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703320"/>
            <a:ext cx="548640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86200"/>
            <a:ext cx="502920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Testing</a:t>
            </a:r>
          </a:p>
        </p:txBody>
      </p:sp>
      <p:sp>
        <p:nvSpPr>
          <p:cNvPr id="27" name="TextBox 26"/>
          <p:cNvSpPr txBox="1"/>
          <p:nvPr/>
        </p:nvSpPr>
        <p:spPr>
          <a:xfrm>
            <a:off x="731520" y="4343400"/>
            <a:ext cx="5029200" cy="16459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29 tests passed. None failed. None skipped.</a:t>
            </a:r>
          </a:p>
          <a:p>
            <a:pPr algn="l">
              <a:spcBef>
                <a:spcPts val="0"/>
              </a:spcBef>
              <a:spcAft>
                <a:spcPts val="0"/>
              </a:spcAft>
            </a:pPr>
            <a:r>
              <a:rPr sz="1500" b="0">
                <a:solidFill>
                  <a:srgbClr val="111111"/>
                </a:solidFill>
                <a:latin typeface="Calibri"/>
              </a:rPr>
              <a:t>Bad login returns 401.</a:t>
            </a:r>
          </a:p>
          <a:p>
            <a:pPr algn="l">
              <a:spcBef>
                <a:spcPts val="0"/>
              </a:spcBef>
              <a:spcAft>
                <a:spcPts val="0"/>
              </a:spcAft>
            </a:pPr>
            <a:r>
              <a:rPr sz="1500" b="0">
                <a:solidFill>
                  <a:srgbClr val="111111"/>
                </a:solidFill>
                <a:latin typeface="Calibri"/>
              </a:rPr>
              <a:t>No token on /me, or on jobs, returns 401.</a:t>
            </a:r>
          </a:p>
          <a:p>
            <a:pPr algn="l">
              <a:spcBef>
                <a:spcPts val="0"/>
              </a:spcBef>
              <a:spcAft>
                <a:spcPts val="0"/>
              </a:spcAft>
            </a:pPr>
            <a:r>
              <a:rPr sz="1500" b="0">
                <a:solidFill>
                  <a:srgbClr val="111111"/>
                </a:solidFill>
                <a:latin typeface="Calibri"/>
              </a:rPr>
              <a:t>A valid token returns the profile.</a:t>
            </a:r>
          </a:p>
        </p:txBody>
      </p:sp>
      <p:sp>
        <p:nvSpPr>
          <p:cNvPr id="28" name="Rectangle 27"/>
          <p:cNvSpPr/>
          <p:nvPr/>
        </p:nvSpPr>
        <p:spPr>
          <a:xfrm>
            <a:off x="6172200" y="3703320"/>
            <a:ext cx="548640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3703320"/>
            <a:ext cx="548640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3886200"/>
            <a:ext cx="502920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What we still owe</a:t>
            </a:r>
          </a:p>
        </p:txBody>
      </p:sp>
      <p:sp>
        <p:nvSpPr>
          <p:cNvPr id="31" name="TextBox 30"/>
          <p:cNvSpPr txBox="1"/>
          <p:nvPr/>
        </p:nvSpPr>
        <p:spPr>
          <a:xfrm>
            <a:off x="6400800" y="4343400"/>
            <a:ext cx="5029200" cy="16459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Repeated bad passwords lock the account.</a:t>
            </a:r>
          </a:p>
          <a:p>
            <a:pPr algn="l">
              <a:spcBef>
                <a:spcPts val="0"/>
              </a:spcBef>
              <a:spcAft>
                <a:spcPts val="0"/>
              </a:spcAft>
            </a:pPr>
            <a:r>
              <a:rPr sz="1500" b="0">
                <a:solidFill>
                  <a:srgbClr val="111111"/>
                </a:solidFill>
                <a:latin typeface="Calibri"/>
              </a:rPr>
              <a:t>Logout revokes the refresh token.</a:t>
            </a:r>
          </a:p>
          <a:p>
            <a:pPr algn="l">
              <a:spcBef>
                <a:spcPts val="0"/>
              </a:spcBef>
              <a:spcAft>
                <a:spcPts val="0"/>
              </a:spcAft>
            </a:pPr>
            <a:r>
              <a:rPr sz="1500" b="0">
                <a:solidFill>
                  <a:srgbClr val="111111"/>
                </a:solidFill>
                <a:latin typeface="Calibri"/>
              </a:rPr>
              <a:t>Gap: no test yet posts a shift that</a:t>
            </a:r>
          </a:p>
          <a:p>
            <a:pPr algn="l">
              <a:spcBef>
                <a:spcPts val="0"/>
              </a:spcBef>
              <a:spcAft>
                <a:spcPts val="0"/>
              </a:spcAft>
            </a:pPr>
            <a:r>
              <a:rPr sz="1500" b="0">
                <a:solidFill>
                  <a:srgbClr val="111111"/>
                </a:solidFill>
                <a:latin typeface="Calibri"/>
              </a:rPr>
              <a:t>would cross 48 hours.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Data, analytics, and Aura</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12</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Rectangle 7"/>
          <p:cNvSpPr/>
          <p:nvPr/>
        </p:nvSpPr>
        <p:spPr>
          <a:xfrm>
            <a:off x="502920" y="1280160"/>
            <a:ext cx="2697480" cy="47091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801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54480"/>
            <a:ext cx="2331720" cy="100584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Shifts and expenses</a:t>
            </a:r>
          </a:p>
        </p:txBody>
      </p:sp>
      <p:sp>
        <p:nvSpPr>
          <p:cNvPr id="11" name="TextBox 10"/>
          <p:cNvSpPr txBox="1"/>
          <p:nvPr/>
        </p:nvSpPr>
        <p:spPr>
          <a:xfrm>
            <a:off x="685800" y="2743200"/>
            <a:ext cx="2331720" cy="28346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Hours, income, and spending.</a:t>
            </a:r>
          </a:p>
          <a:p>
            <a:pPr algn="l">
              <a:spcBef>
                <a:spcPts val="0"/>
              </a:spcBef>
              <a:spcAft>
                <a:spcPts val="0"/>
              </a:spcAft>
            </a:pPr>
            <a:r>
              <a:rPr sz="1600" b="0">
                <a:solidFill>
                  <a:srgbClr val="111111"/>
                </a:solidFill>
                <a:latin typeface="Calibri"/>
              </a:rPr>
              <a:t>Pay is hours times the job rate, after the break.</a:t>
            </a:r>
          </a:p>
        </p:txBody>
      </p:sp>
      <p:sp>
        <p:nvSpPr>
          <p:cNvPr id="12" name="Rectangle 11"/>
          <p:cNvSpPr/>
          <p:nvPr/>
        </p:nvSpPr>
        <p:spPr>
          <a:xfrm>
            <a:off x="3383280" y="1280160"/>
            <a:ext cx="2697480" cy="47091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12801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554480"/>
            <a:ext cx="2331720" cy="100584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Analytics</a:t>
            </a:r>
          </a:p>
        </p:txBody>
      </p:sp>
      <p:sp>
        <p:nvSpPr>
          <p:cNvPr id="15" name="TextBox 14"/>
          <p:cNvSpPr txBox="1"/>
          <p:nvPr/>
        </p:nvSpPr>
        <p:spPr>
          <a:xfrm>
            <a:off x="3566160" y="2743200"/>
            <a:ext cx="2331720" cy="28346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Same formula.</a:t>
            </a:r>
          </a:p>
          <a:p>
            <a:pPr algn="l">
              <a:spcBef>
                <a:spcPts val="0"/>
              </a:spcBef>
              <a:spcAft>
                <a:spcPts val="0"/>
              </a:spcAft>
            </a:pPr>
            <a:r>
              <a:rPr sz="1600" b="0">
                <a:solidFill>
                  <a:srgbClr val="111111"/>
                </a:solidFill>
                <a:latin typeface="Calibri"/>
              </a:rPr>
              <a:t>Windows of 7 days, 30 days,</a:t>
            </a:r>
          </a:p>
          <a:p>
            <a:pPr algn="l">
              <a:spcBef>
                <a:spcPts val="0"/>
              </a:spcBef>
              <a:spcAft>
                <a:spcPts val="0"/>
              </a:spcAft>
            </a:pPr>
            <a:r>
              <a:rPr sz="1600" b="0">
                <a:solidFill>
                  <a:srgbClr val="111111"/>
                </a:solidFill>
                <a:latin typeface="Calibri"/>
              </a:rPr>
              <a:t>1 month, and 12 months.</a:t>
            </a:r>
          </a:p>
        </p:txBody>
      </p:sp>
      <p:sp>
        <p:nvSpPr>
          <p:cNvPr id="16" name="Rectangle 15"/>
          <p:cNvSpPr/>
          <p:nvPr/>
        </p:nvSpPr>
        <p:spPr>
          <a:xfrm>
            <a:off x="6263640" y="1280160"/>
            <a:ext cx="2697480" cy="47091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2801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554480"/>
            <a:ext cx="2331720" cy="100584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Goal tracking</a:t>
            </a:r>
          </a:p>
        </p:txBody>
      </p:sp>
      <p:sp>
        <p:nvSpPr>
          <p:cNvPr id="19" name="TextBox 18"/>
          <p:cNvSpPr txBox="1"/>
          <p:nvPr/>
        </p:nvSpPr>
        <p:spPr>
          <a:xfrm>
            <a:off x="6446520" y="2743200"/>
            <a:ext cx="2331720" cy="28346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Leftover pay is earnings minus expenses, never below zero.</a:t>
            </a:r>
          </a:p>
          <a:p>
            <a:pPr algn="l">
              <a:spcBef>
                <a:spcPts val="0"/>
              </a:spcBef>
              <a:spcAft>
                <a:spcPts val="0"/>
              </a:spcAft>
            </a:pPr>
            <a:r>
              <a:rPr sz="1600" b="0">
                <a:solidFill>
                  <a:srgbClr val="111111"/>
                </a:solidFill>
                <a:latin typeface="Calibri"/>
              </a:rPr>
              <a:t>Progress caps at 100 percent.</a:t>
            </a:r>
          </a:p>
        </p:txBody>
      </p:sp>
      <p:sp>
        <p:nvSpPr>
          <p:cNvPr id="20" name="Rectangle 19"/>
          <p:cNvSpPr/>
          <p:nvPr/>
        </p:nvSpPr>
        <p:spPr>
          <a:xfrm>
            <a:off x="9144000" y="1280160"/>
            <a:ext cx="2697480" cy="47091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0" y="128016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1554480"/>
            <a:ext cx="2331720" cy="100584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Aura</a:t>
            </a:r>
          </a:p>
        </p:txBody>
      </p:sp>
      <p:sp>
        <p:nvSpPr>
          <p:cNvPr id="23" name="TextBox 22"/>
          <p:cNvSpPr txBox="1"/>
          <p:nvPr/>
        </p:nvSpPr>
        <p:spPr>
          <a:xfrm>
            <a:off x="9326880" y="2743200"/>
            <a:ext cx="2331720" cy="28346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Answers a savings question from that user's figures.</a:t>
            </a:r>
          </a:p>
          <a:p>
            <a:pPr algn="l">
              <a:spcBef>
                <a:spcPts val="0"/>
              </a:spcBef>
              <a:spcAft>
                <a:spcPts val="0"/>
              </a:spcAft>
            </a:pPr>
            <a:r>
              <a:rPr sz="1600" b="0">
                <a:solidFill>
                  <a:srgbClr val="111111"/>
                </a:solidFill>
                <a:latin typeface="Calibri"/>
              </a:rPr>
              <a:t>If Aura is off, the app still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Development process</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13</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Rectangle 7"/>
          <p:cNvSpPr/>
          <p:nvPr/>
        </p:nvSpPr>
        <p:spPr>
          <a:xfrm>
            <a:off x="502920" y="1143000"/>
            <a:ext cx="214884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143000"/>
            <a:ext cx="214884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298448"/>
            <a:ext cx="1874519" cy="274320"/>
          </a:xfrm>
          <a:prstGeom prst="rect">
            <a:avLst/>
          </a:prstGeom>
          <a:noFill/>
        </p:spPr>
        <p:txBody>
          <a:bodyPr wrap="square" lIns="0" rIns="0" tIns="0" bIns="0" anchor="t"/>
          <a:lstStyle/>
          <a:p>
            <a:pPr algn="l">
              <a:spcBef>
                <a:spcPts val="0"/>
              </a:spcBef>
              <a:spcAft>
                <a:spcPts val="0"/>
              </a:spcAft>
            </a:pPr>
            <a:r>
              <a:rPr sz="1300" b="0">
                <a:solidFill>
                  <a:srgbClr val="444444"/>
                </a:solidFill>
                <a:latin typeface="Calibri"/>
              </a:rPr>
              <a:t>Week 5</a:t>
            </a:r>
          </a:p>
        </p:txBody>
      </p:sp>
      <p:sp>
        <p:nvSpPr>
          <p:cNvPr id="11" name="TextBox 10"/>
          <p:cNvSpPr txBox="1"/>
          <p:nvPr/>
        </p:nvSpPr>
        <p:spPr>
          <a:xfrm>
            <a:off x="630936" y="1600200"/>
            <a:ext cx="1874519" cy="50292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Foundation</a:t>
            </a:r>
          </a:p>
        </p:txBody>
      </p:sp>
      <p:sp>
        <p:nvSpPr>
          <p:cNvPr id="12" name="TextBox 11"/>
          <p:cNvSpPr txBox="1"/>
          <p:nvPr/>
        </p:nvSpPr>
        <p:spPr>
          <a:xfrm>
            <a:off x="630936" y="2194560"/>
            <a:ext cx="1874519" cy="118872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Account and database.</a:t>
            </a:r>
          </a:p>
        </p:txBody>
      </p:sp>
      <p:sp>
        <p:nvSpPr>
          <p:cNvPr id="13" name="Rectangle 12"/>
          <p:cNvSpPr/>
          <p:nvPr/>
        </p:nvSpPr>
        <p:spPr>
          <a:xfrm>
            <a:off x="2807208" y="1143000"/>
            <a:ext cx="214884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7208" y="1143000"/>
            <a:ext cx="214884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35224" y="1298448"/>
            <a:ext cx="1874519" cy="274320"/>
          </a:xfrm>
          <a:prstGeom prst="rect">
            <a:avLst/>
          </a:prstGeom>
          <a:noFill/>
        </p:spPr>
        <p:txBody>
          <a:bodyPr wrap="square" lIns="0" rIns="0" tIns="0" bIns="0" anchor="t"/>
          <a:lstStyle/>
          <a:p>
            <a:pPr algn="l">
              <a:spcBef>
                <a:spcPts val="0"/>
              </a:spcBef>
              <a:spcAft>
                <a:spcPts val="0"/>
              </a:spcAft>
            </a:pPr>
            <a:r>
              <a:rPr sz="1300" b="0">
                <a:solidFill>
                  <a:srgbClr val="444444"/>
                </a:solidFill>
                <a:latin typeface="Calibri"/>
              </a:rPr>
              <a:t>Week 6</a:t>
            </a:r>
          </a:p>
        </p:txBody>
      </p:sp>
      <p:sp>
        <p:nvSpPr>
          <p:cNvPr id="16" name="TextBox 15"/>
          <p:cNvSpPr txBox="1"/>
          <p:nvPr/>
        </p:nvSpPr>
        <p:spPr>
          <a:xfrm>
            <a:off x="2935224" y="1600200"/>
            <a:ext cx="1874519" cy="50292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Shifts</a:t>
            </a:r>
          </a:p>
        </p:txBody>
      </p:sp>
      <p:sp>
        <p:nvSpPr>
          <p:cNvPr id="17" name="TextBox 16"/>
          <p:cNvSpPr txBox="1"/>
          <p:nvPr/>
        </p:nvSpPr>
        <p:spPr>
          <a:xfrm>
            <a:off x="2935224" y="2194560"/>
            <a:ext cx="1874519" cy="118872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Jobs, clock-in, SignalR.</a:t>
            </a:r>
          </a:p>
        </p:txBody>
      </p:sp>
      <p:sp>
        <p:nvSpPr>
          <p:cNvPr id="18" name="Rectangle 17"/>
          <p:cNvSpPr/>
          <p:nvPr/>
        </p:nvSpPr>
        <p:spPr>
          <a:xfrm>
            <a:off x="5111496" y="1143000"/>
            <a:ext cx="214884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11496" y="1143000"/>
            <a:ext cx="214884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9512" y="1298448"/>
            <a:ext cx="1874519" cy="274320"/>
          </a:xfrm>
          <a:prstGeom prst="rect">
            <a:avLst/>
          </a:prstGeom>
          <a:noFill/>
        </p:spPr>
        <p:txBody>
          <a:bodyPr wrap="square" lIns="0" rIns="0" tIns="0" bIns="0" anchor="t"/>
          <a:lstStyle/>
          <a:p>
            <a:pPr algn="l">
              <a:spcBef>
                <a:spcPts val="0"/>
              </a:spcBef>
              <a:spcAft>
                <a:spcPts val="0"/>
              </a:spcAft>
            </a:pPr>
            <a:r>
              <a:rPr sz="1300" b="0">
                <a:solidFill>
                  <a:srgbClr val="444444"/>
                </a:solidFill>
                <a:latin typeface="Calibri"/>
              </a:rPr>
              <a:t>Week 7</a:t>
            </a:r>
          </a:p>
        </p:txBody>
      </p:sp>
      <p:sp>
        <p:nvSpPr>
          <p:cNvPr id="21" name="TextBox 20"/>
          <p:cNvSpPr txBox="1"/>
          <p:nvPr/>
        </p:nvSpPr>
        <p:spPr>
          <a:xfrm>
            <a:off x="5239512" y="1600200"/>
            <a:ext cx="1874519" cy="50292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Money</a:t>
            </a:r>
          </a:p>
        </p:txBody>
      </p:sp>
      <p:sp>
        <p:nvSpPr>
          <p:cNvPr id="22" name="TextBox 21"/>
          <p:cNvSpPr txBox="1"/>
          <p:nvPr/>
        </p:nvSpPr>
        <p:spPr>
          <a:xfrm>
            <a:off x="5239512" y="2194560"/>
            <a:ext cx="1874519" cy="118872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Expenses and goals.</a:t>
            </a:r>
          </a:p>
        </p:txBody>
      </p:sp>
      <p:sp>
        <p:nvSpPr>
          <p:cNvPr id="23" name="Rectangle 22"/>
          <p:cNvSpPr/>
          <p:nvPr/>
        </p:nvSpPr>
        <p:spPr>
          <a:xfrm>
            <a:off x="7415783" y="1143000"/>
            <a:ext cx="214884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15783" y="1143000"/>
            <a:ext cx="214884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298448"/>
            <a:ext cx="1874519" cy="274320"/>
          </a:xfrm>
          <a:prstGeom prst="rect">
            <a:avLst/>
          </a:prstGeom>
          <a:noFill/>
        </p:spPr>
        <p:txBody>
          <a:bodyPr wrap="square" lIns="0" rIns="0" tIns="0" bIns="0" anchor="t"/>
          <a:lstStyle/>
          <a:p>
            <a:pPr algn="l">
              <a:spcBef>
                <a:spcPts val="0"/>
              </a:spcBef>
              <a:spcAft>
                <a:spcPts val="0"/>
              </a:spcAft>
            </a:pPr>
            <a:r>
              <a:rPr sz="1300" b="0">
                <a:solidFill>
                  <a:srgbClr val="444444"/>
                </a:solidFill>
                <a:latin typeface="Calibri"/>
              </a:rPr>
              <a:t>Week 8</a:t>
            </a:r>
          </a:p>
        </p:txBody>
      </p:sp>
      <p:sp>
        <p:nvSpPr>
          <p:cNvPr id="26" name="TextBox 25"/>
          <p:cNvSpPr txBox="1"/>
          <p:nvPr/>
        </p:nvSpPr>
        <p:spPr>
          <a:xfrm>
            <a:off x="7543800" y="1600200"/>
            <a:ext cx="1874519" cy="50292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Compliance</a:t>
            </a:r>
          </a:p>
        </p:txBody>
      </p:sp>
      <p:sp>
        <p:nvSpPr>
          <p:cNvPr id="27" name="TextBox 26"/>
          <p:cNvSpPr txBox="1"/>
          <p:nvPr/>
        </p:nvSpPr>
        <p:spPr>
          <a:xfrm>
            <a:off x="7543800" y="2194560"/>
            <a:ext cx="1874519" cy="118872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48-hour rule, analytics, exports.</a:t>
            </a:r>
          </a:p>
        </p:txBody>
      </p:sp>
      <p:sp>
        <p:nvSpPr>
          <p:cNvPr id="28" name="Rectangle 27"/>
          <p:cNvSpPr/>
          <p:nvPr/>
        </p:nvSpPr>
        <p:spPr>
          <a:xfrm>
            <a:off x="9720072" y="1143000"/>
            <a:ext cx="2148840" cy="2468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20072" y="1143000"/>
            <a:ext cx="214884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48088" y="1298448"/>
            <a:ext cx="1874519" cy="274320"/>
          </a:xfrm>
          <a:prstGeom prst="rect">
            <a:avLst/>
          </a:prstGeom>
          <a:noFill/>
        </p:spPr>
        <p:txBody>
          <a:bodyPr wrap="square" lIns="0" rIns="0" tIns="0" bIns="0" anchor="t"/>
          <a:lstStyle/>
          <a:p>
            <a:pPr algn="l">
              <a:spcBef>
                <a:spcPts val="0"/>
              </a:spcBef>
              <a:spcAft>
                <a:spcPts val="0"/>
              </a:spcAft>
            </a:pPr>
            <a:r>
              <a:rPr sz="1300" b="0">
                <a:solidFill>
                  <a:srgbClr val="444444"/>
                </a:solidFill>
                <a:latin typeface="Calibri"/>
              </a:rPr>
              <a:t>Week 9</a:t>
            </a:r>
          </a:p>
        </p:txBody>
      </p:sp>
      <p:sp>
        <p:nvSpPr>
          <p:cNvPr id="31" name="TextBox 30"/>
          <p:cNvSpPr txBox="1"/>
          <p:nvPr/>
        </p:nvSpPr>
        <p:spPr>
          <a:xfrm>
            <a:off x="9848088" y="1600200"/>
            <a:ext cx="1874519" cy="50292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Aura</a:t>
            </a:r>
          </a:p>
        </p:txBody>
      </p:sp>
      <p:sp>
        <p:nvSpPr>
          <p:cNvPr id="32" name="TextBox 31"/>
          <p:cNvSpPr txBox="1"/>
          <p:nvPr/>
        </p:nvSpPr>
        <p:spPr>
          <a:xfrm>
            <a:off x="9848088" y="2194560"/>
            <a:ext cx="1874519" cy="118872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Notifications and Aura.</a:t>
            </a:r>
          </a:p>
        </p:txBody>
      </p:sp>
      <p:sp>
        <p:nvSpPr>
          <p:cNvPr id="33" name="Rectangle 32"/>
          <p:cNvSpPr/>
          <p:nvPr/>
        </p:nvSpPr>
        <p:spPr>
          <a:xfrm>
            <a:off x="502920" y="3794760"/>
            <a:ext cx="36118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79476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3977639"/>
            <a:ext cx="320040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Agile / Scrum</a:t>
            </a:r>
          </a:p>
        </p:txBody>
      </p:sp>
      <p:sp>
        <p:nvSpPr>
          <p:cNvPr id="36" name="TextBox 35"/>
          <p:cNvSpPr txBox="1"/>
          <p:nvPr/>
        </p:nvSpPr>
        <p:spPr>
          <a:xfrm>
            <a:off x="704088" y="4480560"/>
            <a:ext cx="3200400" cy="137160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Weekly sprints.</a:t>
            </a:r>
          </a:p>
          <a:p>
            <a:pPr algn="l">
              <a:spcBef>
                <a:spcPts val="0"/>
              </a:spcBef>
              <a:spcAft>
                <a:spcPts val="0"/>
              </a:spcAft>
            </a:pPr>
            <a:r>
              <a:rPr sz="1500" b="0">
                <a:solidFill>
                  <a:srgbClr val="111111"/>
                </a:solidFill>
                <a:latin typeface="Calibri"/>
              </a:rPr>
              <a:t>Stories in Jira.</a:t>
            </a:r>
          </a:p>
          <a:p>
            <a:pPr algn="l">
              <a:spcBef>
                <a:spcPts val="0"/>
              </a:spcBef>
              <a:spcAft>
                <a:spcPts val="0"/>
              </a:spcAft>
            </a:pPr>
            <a:r>
              <a:rPr sz="1500" b="0">
                <a:solidFill>
                  <a:srgbClr val="111111"/>
                </a:solidFill>
                <a:latin typeface="Calibri"/>
              </a:rPr>
              <a:t>A phase was done when you could use it.</a:t>
            </a:r>
          </a:p>
        </p:txBody>
      </p:sp>
      <p:sp>
        <p:nvSpPr>
          <p:cNvPr id="37" name="Rectangle 36"/>
          <p:cNvSpPr/>
          <p:nvPr/>
        </p:nvSpPr>
        <p:spPr>
          <a:xfrm>
            <a:off x="4297680" y="3794760"/>
            <a:ext cx="36118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297680" y="379476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8848" y="3977639"/>
            <a:ext cx="320040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Task allocation</a:t>
            </a:r>
          </a:p>
        </p:txBody>
      </p:sp>
      <p:sp>
        <p:nvSpPr>
          <p:cNvPr id="40" name="TextBox 39"/>
          <p:cNvSpPr txBox="1"/>
          <p:nvPr/>
        </p:nvSpPr>
        <p:spPr>
          <a:xfrm>
            <a:off x="4498848" y="4480560"/>
            <a:ext cx="3200400" cy="137160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Split by the roles on the title slide.</a:t>
            </a:r>
          </a:p>
          <a:p>
            <a:pPr algn="l">
              <a:spcBef>
                <a:spcPts val="0"/>
              </a:spcBef>
              <a:spcAft>
                <a:spcPts val="0"/>
              </a:spcAft>
            </a:pPr>
            <a:r>
              <a:rPr sz="1500" b="0">
                <a:solidFill>
                  <a:srgbClr val="111111"/>
                </a:solidFill>
                <a:latin typeface="Calibri"/>
              </a:rPr>
              <a:t>Four people. The same four through week 9.</a:t>
            </a:r>
          </a:p>
        </p:txBody>
      </p:sp>
      <p:sp>
        <p:nvSpPr>
          <p:cNvPr id="41" name="Rectangle 40"/>
          <p:cNvSpPr/>
          <p:nvPr/>
        </p:nvSpPr>
        <p:spPr>
          <a:xfrm>
            <a:off x="8092440" y="3794760"/>
            <a:ext cx="3611880" cy="23317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92440" y="379476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93608" y="3977639"/>
            <a:ext cx="320040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Collaboration</a:t>
            </a:r>
          </a:p>
        </p:txBody>
      </p:sp>
      <p:sp>
        <p:nvSpPr>
          <p:cNvPr id="44" name="TextBox 43"/>
          <p:cNvSpPr txBox="1"/>
          <p:nvPr/>
        </p:nvSpPr>
        <p:spPr>
          <a:xfrm>
            <a:off x="8293608" y="4480560"/>
            <a:ext cx="3200400" cy="137160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Git history tied to the work.</a:t>
            </a:r>
          </a:p>
          <a:p>
            <a:pPr algn="l">
              <a:spcBef>
                <a:spcPts val="0"/>
              </a:spcBef>
              <a:spcAft>
                <a:spcPts val="0"/>
              </a:spcAft>
            </a:pPr>
            <a:r>
              <a:rPr sz="1500" b="0">
                <a:solidFill>
                  <a:srgbClr val="111111"/>
                </a:solidFill>
                <a:latin typeface="Calibri"/>
              </a:rPr>
              <a:t>We planned the team early.</a:t>
            </a:r>
          </a:p>
          <a:p>
            <a:pPr algn="l">
              <a:spcBef>
                <a:spcPts val="0"/>
              </a:spcBef>
              <a:spcAft>
                <a:spcPts val="0"/>
              </a:spcAft>
            </a:pPr>
            <a:r>
              <a:rPr sz="1500" b="0">
                <a:solidFill>
                  <a:srgbClr val="111111"/>
                </a:solidFill>
                <a:latin typeface="Calibri"/>
              </a:rPr>
              <a:t>That is the mythical man-month.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Strengths, improvements, and future</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14</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Rectangle 7"/>
          <p:cNvSpPr/>
          <p:nvPr/>
        </p:nvSpPr>
        <p:spPr>
          <a:xfrm>
            <a:off x="502920" y="1280160"/>
            <a:ext cx="3611880" cy="4754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28016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3154680" cy="64008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Key strengths</a:t>
            </a:r>
          </a:p>
        </p:txBody>
      </p:sp>
      <p:sp>
        <p:nvSpPr>
          <p:cNvPr id="11" name="TextBox 10"/>
          <p:cNvSpPr txBox="1"/>
          <p:nvPr/>
        </p:nvSpPr>
        <p:spPr>
          <a:xfrm>
            <a:off x="731520" y="2377440"/>
            <a:ext cx="3154680" cy="32918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The visa rule blocks the save.</a:t>
            </a:r>
          </a:p>
          <a:p>
            <a:pPr algn="l">
              <a:spcBef>
                <a:spcPts val="0"/>
              </a:spcBef>
              <a:spcAft>
                <a:spcPts val="0"/>
              </a:spcAft>
            </a:pPr>
            <a:r>
              <a:rPr sz="1600" b="0">
                <a:solidFill>
                  <a:srgbClr val="111111"/>
                </a:solidFill>
                <a:latin typeface="Calibri"/>
              </a:rPr>
              <a:t>The database is in third normal form.</a:t>
            </a:r>
          </a:p>
          <a:p>
            <a:pPr algn="l">
              <a:spcBef>
                <a:spcPts val="0"/>
              </a:spcBef>
              <a:spcAft>
                <a:spcPts val="0"/>
              </a:spcAft>
            </a:pPr>
            <a:r>
              <a:rPr sz="1600" b="0">
                <a:solidFill>
                  <a:srgbClr val="111111"/>
                </a:solidFill>
                <a:latin typeface="Calibri"/>
              </a:rPr>
              <a:t>A clock-out updates other open tabs.</a:t>
            </a:r>
          </a:p>
          <a:p>
            <a:pPr algn="l">
              <a:spcBef>
                <a:spcPts val="0"/>
              </a:spcBef>
              <a:spcAft>
                <a:spcPts val="0"/>
              </a:spcAft>
            </a:pPr>
            <a:r>
              <a:rPr sz="1600" b="0">
                <a:solidFill>
                  <a:srgbClr val="111111"/>
                </a:solidFill>
                <a:latin typeface="Calibri"/>
              </a:rPr>
              <a:t>The demo data can be seeded again.</a:t>
            </a:r>
          </a:p>
          <a:p>
            <a:pPr algn="l">
              <a:spcBef>
                <a:spcPts val="0"/>
              </a:spcBef>
              <a:spcAft>
                <a:spcPts val="0"/>
              </a:spcAft>
            </a:pPr>
            <a:r>
              <a:rPr sz="1600" b="0">
                <a:solidFill>
                  <a:srgbClr val="111111"/>
                </a:solidFill>
                <a:latin typeface="Calibri"/>
              </a:rPr>
              <a:t>29 tests are green.</a:t>
            </a:r>
          </a:p>
        </p:txBody>
      </p:sp>
      <p:sp>
        <p:nvSpPr>
          <p:cNvPr id="12" name="Rectangle 11"/>
          <p:cNvSpPr/>
          <p:nvPr/>
        </p:nvSpPr>
        <p:spPr>
          <a:xfrm>
            <a:off x="4297680" y="1280160"/>
            <a:ext cx="3611880" cy="4754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8016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554480"/>
            <a:ext cx="3154680" cy="64008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Improve next</a:t>
            </a:r>
          </a:p>
        </p:txBody>
      </p:sp>
      <p:sp>
        <p:nvSpPr>
          <p:cNvPr id="15" name="TextBox 14"/>
          <p:cNvSpPr txBox="1"/>
          <p:nvPr/>
        </p:nvSpPr>
        <p:spPr>
          <a:xfrm>
            <a:off x="4526280" y="2377440"/>
            <a:ext cx="3154680" cy="32918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 test that posts a shift past 48 hours.</a:t>
            </a:r>
          </a:p>
          <a:p>
            <a:pPr algn="l">
              <a:spcBef>
                <a:spcPts val="0"/>
              </a:spcBef>
              <a:spcAft>
                <a:spcPts val="0"/>
              </a:spcAft>
            </a:pPr>
            <a:r>
              <a:rPr sz="1600" b="0">
                <a:solidFill>
                  <a:srgbClr val="111111"/>
                </a:solidFill>
                <a:latin typeface="Calibri"/>
              </a:rPr>
              <a:t>More tests around approval and lockout.</a:t>
            </a:r>
          </a:p>
          <a:p>
            <a:pPr algn="l">
              <a:spcBef>
                <a:spcPts val="0"/>
              </a:spcBef>
              <a:spcAft>
                <a:spcPts val="0"/>
              </a:spcAft>
            </a:pPr>
            <a:r>
              <a:rPr sz="1600" b="0">
                <a:solidFill>
                  <a:srgbClr val="111111"/>
                </a:solidFill>
                <a:latin typeface="Calibri"/>
              </a:rPr>
              <a:t>A pass over slow dashboard queries.</a:t>
            </a:r>
          </a:p>
        </p:txBody>
      </p:sp>
      <p:sp>
        <p:nvSpPr>
          <p:cNvPr id="16" name="Rectangle 15"/>
          <p:cNvSpPr/>
          <p:nvPr/>
        </p:nvSpPr>
        <p:spPr>
          <a:xfrm>
            <a:off x="8092440" y="1280160"/>
            <a:ext cx="3611880" cy="47548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28016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554480"/>
            <a:ext cx="3154680" cy="64008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Future features</a:t>
            </a:r>
          </a:p>
        </p:txBody>
      </p:sp>
      <p:sp>
        <p:nvSpPr>
          <p:cNvPr id="19" name="TextBox 18"/>
          <p:cNvSpPr txBox="1"/>
          <p:nvPr/>
        </p:nvSpPr>
        <p:spPr>
          <a:xfrm>
            <a:off x="8321040" y="2377440"/>
            <a:ext cx="3154680" cy="329184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 phone app on the same API.</a:t>
            </a:r>
          </a:p>
          <a:p>
            <a:pPr algn="l">
              <a:spcBef>
                <a:spcPts val="0"/>
              </a:spcBef>
              <a:spcAft>
                <a:spcPts val="0"/>
              </a:spcAft>
            </a:pPr>
            <a:r>
              <a:rPr sz="1600" b="0">
                <a:solidFill>
                  <a:srgbClr val="111111"/>
                </a:solidFill>
                <a:latin typeface="Calibri"/>
              </a:rPr>
              <a:t>Other visa types, not only the student 48.</a:t>
            </a:r>
          </a:p>
          <a:p>
            <a:pPr algn="l">
              <a:spcBef>
                <a:spcPts val="0"/>
              </a:spcBef>
              <a:spcAft>
                <a:spcPts val="0"/>
              </a:spcAft>
            </a:pPr>
            <a:r>
              <a:rPr sz="1600" b="0">
                <a:solidFill>
                  <a:srgbClr val="111111"/>
                </a:solidFill>
                <a:latin typeface="Calibri"/>
              </a:rPr>
              <a:t>A bank feed, so expenses are not typed.</a:t>
            </a:r>
          </a:p>
          <a:p>
            <a:pPr algn="l">
              <a:spcBef>
                <a:spcPts val="0"/>
              </a:spcBef>
              <a:spcAft>
                <a:spcPts val="0"/>
              </a:spcAft>
            </a:pPr>
            <a:r>
              <a:rPr sz="1600" b="0">
                <a:solidFill>
                  <a:srgbClr val="111111"/>
                </a:solidFill>
                <a:latin typeface="Calibri"/>
              </a:rPr>
              <a:t>A deeper Aura, same panel.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241280" cy="50292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Live demo</a:t>
            </a:r>
          </a:p>
        </p:txBody>
      </p:sp>
      <p:sp>
        <p:nvSpPr>
          <p:cNvPr id="5" name="Rectangle 4"/>
          <p:cNvSpPr/>
          <p:nvPr/>
        </p:nvSpPr>
        <p:spPr>
          <a:xfrm>
            <a:off x="502920" y="896112"/>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15</a:t>
            </a:r>
          </a:p>
        </p:txBody>
      </p:sp>
      <p:sp>
        <p:nvSpPr>
          <p:cNvPr id="7" name="TextBox 6"/>
          <p:cNvSpPr txBox="1"/>
          <p:nvPr/>
        </p:nvSpPr>
        <p:spPr>
          <a:xfrm>
            <a:off x="502920" y="6446520"/>
            <a:ext cx="73152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PRT681   ·   Group 4</a:t>
            </a:r>
          </a:p>
        </p:txBody>
      </p:sp>
      <p:sp>
        <p:nvSpPr>
          <p:cNvPr id="8" name="TextBox 7"/>
          <p:cNvSpPr txBox="1"/>
          <p:nvPr/>
        </p:nvSpPr>
        <p:spPr>
          <a:xfrm>
            <a:off x="502920" y="1078992"/>
            <a:ext cx="10972800" cy="320040"/>
          </a:xfrm>
          <a:prstGeom prst="rect">
            <a:avLst/>
          </a:prstGeom>
          <a:noFill/>
        </p:spPr>
        <p:txBody>
          <a:bodyPr wrap="square" lIns="0" rIns="0" tIns="0" bIns="0" anchor="t"/>
          <a:lstStyle/>
          <a:p>
            <a:pPr algn="l">
              <a:spcBef>
                <a:spcPts val="0"/>
              </a:spcBef>
              <a:spcAft>
                <a:spcPts val="0"/>
              </a:spcAft>
            </a:pPr>
            <a:r>
              <a:rPr sz="1600" b="0">
                <a:solidFill>
                  <a:srgbClr val="444444"/>
                </a:solidFill>
                <a:latin typeface="Calibri"/>
              </a:rPr>
              <a:t>OraEarn in action. Alice is the student. Bob is not on the 48-hour rule.</a:t>
            </a:r>
          </a:p>
        </p:txBody>
      </p:sp>
      <p:sp>
        <p:nvSpPr>
          <p:cNvPr id="9" name="Rectangle 8"/>
          <p:cNvSpPr/>
          <p:nvPr/>
        </p:nvSpPr>
        <p:spPr>
          <a:xfrm>
            <a:off x="502920" y="1600200"/>
            <a:ext cx="2697480" cy="44348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6002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28800"/>
            <a:ext cx="2331720" cy="64008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Shifts</a:t>
            </a:r>
          </a:p>
        </p:txBody>
      </p:sp>
      <p:sp>
        <p:nvSpPr>
          <p:cNvPr id="12" name="TextBox 11"/>
          <p:cNvSpPr txBox="1"/>
          <p:nvPr/>
        </p:nvSpPr>
        <p:spPr>
          <a:xfrm>
            <a:off x="685800" y="2514600"/>
            <a:ext cx="2331720" cy="365760"/>
          </a:xfrm>
          <a:prstGeom prst="rect">
            <a:avLst/>
          </a:prstGeom>
          <a:noFill/>
        </p:spPr>
        <p:txBody>
          <a:bodyPr wrap="square" lIns="0" rIns="0" tIns="0" bIns="0" anchor="t"/>
          <a:lstStyle/>
          <a:p>
            <a:pPr algn="l">
              <a:spcBef>
                <a:spcPts val="0"/>
              </a:spcBef>
              <a:spcAft>
                <a:spcPts val="0"/>
              </a:spcAft>
            </a:pPr>
            <a:r>
              <a:rPr sz="1400" b="1">
                <a:solidFill>
                  <a:srgbClr val="444444"/>
                </a:solidFill>
                <a:latin typeface="Calibri"/>
              </a:rPr>
              <a:t>Dharma</a:t>
            </a:r>
          </a:p>
        </p:txBody>
      </p:sp>
      <p:sp>
        <p:nvSpPr>
          <p:cNvPr id="13" name="TextBox 12"/>
          <p:cNvSpPr txBox="1"/>
          <p:nvPr/>
        </p:nvSpPr>
        <p:spPr>
          <a:xfrm>
            <a:off x="685800" y="3017520"/>
            <a:ext cx="2331720" cy="26517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Sign in as Alice.</a:t>
            </a:r>
          </a:p>
          <a:p>
            <a:pPr algn="l">
              <a:spcBef>
                <a:spcPts val="0"/>
              </a:spcBef>
              <a:spcAft>
                <a:spcPts val="0"/>
              </a:spcAft>
            </a:pPr>
            <a:r>
              <a:rPr sz="1500" b="0">
                <a:solidFill>
                  <a:srgbClr val="111111"/>
                </a:solidFill>
                <a:latin typeface="Calibri"/>
              </a:rPr>
              <a:t>Add a shift.</a:t>
            </a:r>
          </a:p>
          <a:p>
            <a:pPr algn="l">
              <a:spcBef>
                <a:spcPts val="0"/>
              </a:spcBef>
              <a:spcAft>
                <a:spcPts val="0"/>
              </a:spcAft>
            </a:pPr>
            <a:r>
              <a:rPr sz="1500" b="0">
                <a:solidFill>
                  <a:srgbClr val="111111"/>
                </a:solidFill>
                <a:latin typeface="Calibri"/>
              </a:rPr>
              <a:t>The calendar updates on the open tab.</a:t>
            </a:r>
          </a:p>
        </p:txBody>
      </p:sp>
      <p:sp>
        <p:nvSpPr>
          <p:cNvPr id="14" name="Rectangle 13"/>
          <p:cNvSpPr/>
          <p:nvPr/>
        </p:nvSpPr>
        <p:spPr>
          <a:xfrm>
            <a:off x="3383280" y="1600200"/>
            <a:ext cx="2697480" cy="44348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6002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1828800"/>
            <a:ext cx="2331720" cy="64008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Money</a:t>
            </a:r>
          </a:p>
        </p:txBody>
      </p:sp>
      <p:sp>
        <p:nvSpPr>
          <p:cNvPr id="17" name="TextBox 16"/>
          <p:cNvSpPr txBox="1"/>
          <p:nvPr/>
        </p:nvSpPr>
        <p:spPr>
          <a:xfrm>
            <a:off x="3566160" y="2514600"/>
            <a:ext cx="2331720" cy="365760"/>
          </a:xfrm>
          <a:prstGeom prst="rect">
            <a:avLst/>
          </a:prstGeom>
          <a:noFill/>
        </p:spPr>
        <p:txBody>
          <a:bodyPr wrap="square" lIns="0" rIns="0" tIns="0" bIns="0" anchor="t"/>
          <a:lstStyle/>
          <a:p>
            <a:pPr algn="l">
              <a:spcBef>
                <a:spcPts val="0"/>
              </a:spcBef>
              <a:spcAft>
                <a:spcPts val="0"/>
              </a:spcAft>
            </a:pPr>
            <a:r>
              <a:rPr sz="1400" b="1">
                <a:solidFill>
                  <a:srgbClr val="444444"/>
                </a:solidFill>
                <a:latin typeface="Calibri"/>
              </a:rPr>
              <a:t>Dharma</a:t>
            </a:r>
          </a:p>
        </p:txBody>
      </p:sp>
      <p:sp>
        <p:nvSpPr>
          <p:cNvPr id="18" name="TextBox 17"/>
          <p:cNvSpPr txBox="1"/>
          <p:nvPr/>
        </p:nvSpPr>
        <p:spPr>
          <a:xfrm>
            <a:off x="3566160" y="3017520"/>
            <a:ext cx="2331720" cy="26517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Add an expense.</a:t>
            </a:r>
          </a:p>
          <a:p>
            <a:pPr algn="l">
              <a:spcBef>
                <a:spcPts val="0"/>
              </a:spcBef>
              <a:spcAft>
                <a:spcPts val="0"/>
              </a:spcAft>
            </a:pPr>
            <a:r>
              <a:rPr sz="1500" b="0">
                <a:solidFill>
                  <a:srgbClr val="111111"/>
                </a:solidFill>
                <a:latin typeface="Calibri"/>
              </a:rPr>
              <a:t>Add a savings goal.</a:t>
            </a:r>
          </a:p>
          <a:p>
            <a:pPr algn="l">
              <a:spcBef>
                <a:spcPts val="0"/>
              </a:spcBef>
              <a:spcAft>
                <a:spcPts val="0"/>
              </a:spcAft>
            </a:pPr>
            <a:r>
              <a:rPr sz="1500" b="0">
                <a:solidFill>
                  <a:srgbClr val="111111"/>
                </a:solidFill>
                <a:latin typeface="Calibri"/>
              </a:rPr>
              <a:t>Leftover pay moves the goal.</a:t>
            </a:r>
          </a:p>
        </p:txBody>
      </p:sp>
      <p:sp>
        <p:nvSpPr>
          <p:cNvPr id="19" name="Rectangle 18"/>
          <p:cNvSpPr/>
          <p:nvPr/>
        </p:nvSpPr>
        <p:spPr>
          <a:xfrm>
            <a:off x="6263640" y="1600200"/>
            <a:ext cx="2697480" cy="44348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6002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828800"/>
            <a:ext cx="2331720" cy="64008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Visa guard</a:t>
            </a:r>
          </a:p>
        </p:txBody>
      </p:sp>
      <p:sp>
        <p:nvSpPr>
          <p:cNvPr id="22" name="TextBox 21"/>
          <p:cNvSpPr txBox="1"/>
          <p:nvPr/>
        </p:nvSpPr>
        <p:spPr>
          <a:xfrm>
            <a:off x="6446520" y="2514600"/>
            <a:ext cx="2331720" cy="365760"/>
          </a:xfrm>
          <a:prstGeom prst="rect">
            <a:avLst/>
          </a:prstGeom>
          <a:noFill/>
        </p:spPr>
        <p:txBody>
          <a:bodyPr wrap="square" lIns="0" rIns="0" tIns="0" bIns="0" anchor="t"/>
          <a:lstStyle/>
          <a:p>
            <a:pPr algn="l">
              <a:spcBef>
                <a:spcPts val="0"/>
              </a:spcBef>
              <a:spcAft>
                <a:spcPts val="0"/>
              </a:spcAft>
            </a:pPr>
            <a:r>
              <a:rPr sz="1400" b="1">
                <a:solidFill>
                  <a:srgbClr val="444444"/>
                </a:solidFill>
                <a:latin typeface="Calibri"/>
              </a:rPr>
              <a:t>Krishna</a:t>
            </a:r>
          </a:p>
        </p:txBody>
      </p:sp>
      <p:sp>
        <p:nvSpPr>
          <p:cNvPr id="23" name="TextBox 22"/>
          <p:cNvSpPr txBox="1"/>
          <p:nvPr/>
        </p:nvSpPr>
        <p:spPr>
          <a:xfrm>
            <a:off x="6446520" y="3017520"/>
            <a:ext cx="2331720" cy="26517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A shift that would pass 48 hours is refused.</a:t>
            </a:r>
          </a:p>
          <a:p>
            <a:pPr algn="l">
              <a:spcBef>
                <a:spcPts val="0"/>
              </a:spcBef>
              <a:spcAft>
                <a:spcPts val="0"/>
              </a:spcAft>
            </a:pPr>
            <a:r>
              <a:rPr sz="1500" b="0">
                <a:solidFill>
                  <a:srgbClr val="111111"/>
                </a:solidFill>
                <a:latin typeface="Calibri"/>
              </a:rPr>
              <a:t>Bob, a citizen, is not on that rule.</a:t>
            </a:r>
          </a:p>
        </p:txBody>
      </p:sp>
      <p:sp>
        <p:nvSpPr>
          <p:cNvPr id="24" name="Rectangle 23"/>
          <p:cNvSpPr/>
          <p:nvPr/>
        </p:nvSpPr>
        <p:spPr>
          <a:xfrm>
            <a:off x="9144000" y="1600200"/>
            <a:ext cx="2697480" cy="44348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0" y="1600200"/>
            <a:ext cx="26974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1828800"/>
            <a:ext cx="2331720" cy="64008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Aura and export</a:t>
            </a:r>
          </a:p>
        </p:txBody>
      </p:sp>
      <p:sp>
        <p:nvSpPr>
          <p:cNvPr id="27" name="TextBox 26"/>
          <p:cNvSpPr txBox="1"/>
          <p:nvPr/>
        </p:nvSpPr>
        <p:spPr>
          <a:xfrm>
            <a:off x="9326880" y="2514600"/>
            <a:ext cx="2331720" cy="365760"/>
          </a:xfrm>
          <a:prstGeom prst="rect">
            <a:avLst/>
          </a:prstGeom>
          <a:noFill/>
        </p:spPr>
        <p:txBody>
          <a:bodyPr wrap="square" lIns="0" rIns="0" tIns="0" bIns="0" anchor="t"/>
          <a:lstStyle/>
          <a:p>
            <a:pPr algn="l">
              <a:spcBef>
                <a:spcPts val="0"/>
              </a:spcBef>
              <a:spcAft>
                <a:spcPts val="0"/>
              </a:spcAft>
            </a:pPr>
            <a:r>
              <a:rPr sz="1400" b="1">
                <a:solidFill>
                  <a:srgbClr val="444444"/>
                </a:solidFill>
                <a:latin typeface="Calibri"/>
              </a:rPr>
              <a:t>Krishna</a:t>
            </a:r>
          </a:p>
        </p:txBody>
      </p:sp>
      <p:sp>
        <p:nvSpPr>
          <p:cNvPr id="28" name="TextBox 27"/>
          <p:cNvSpPr txBox="1"/>
          <p:nvPr/>
        </p:nvSpPr>
        <p:spPr>
          <a:xfrm>
            <a:off x="9326880" y="3017520"/>
            <a:ext cx="2331720" cy="265176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Open analytics.</a:t>
            </a:r>
          </a:p>
          <a:p>
            <a:pPr algn="l">
              <a:spcBef>
                <a:spcPts val="0"/>
              </a:spcBef>
              <a:spcAft>
                <a:spcPts val="0"/>
              </a:spcAft>
            </a:pPr>
            <a:r>
              <a:rPr sz="1500" b="0">
                <a:solidFill>
                  <a:srgbClr val="111111"/>
                </a:solidFill>
                <a:latin typeface="Calibri"/>
              </a:rPr>
              <a:t>Export.</a:t>
            </a:r>
          </a:p>
          <a:p>
            <a:pPr algn="l">
              <a:spcBef>
                <a:spcPts val="0"/>
              </a:spcBef>
              <a:spcAft>
                <a:spcPts val="0"/>
              </a:spcAft>
            </a:pPr>
            <a:r>
              <a:rPr sz="1500" b="0">
                <a:solidFill>
                  <a:srgbClr val="111111"/>
                </a:solidFill>
                <a:latin typeface="Calibri"/>
              </a:rPr>
              <a:t>Ask Aura.</a:t>
            </a:r>
          </a:p>
          <a:p>
            <a:pPr algn="l">
              <a:spcBef>
                <a:spcPts val="0"/>
              </a:spcBef>
              <a:spcAft>
                <a:spcPts val="0"/>
              </a:spcAft>
            </a:pPr>
            <a:r>
              <a:rPr sz="1500" b="0">
                <a:solidFill>
                  <a:srgbClr val="111111"/>
                </a:solidFill>
                <a:latin typeface="Calibri"/>
              </a:rPr>
              <a:t>Then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OraEarn — Assessment 3</dc:title>
  <dc:subject>PRT681 Group 4</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Assessment 3</cp:category>
</cp:coreProperties>
</file>