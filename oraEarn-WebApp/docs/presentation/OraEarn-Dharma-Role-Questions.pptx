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a:t>
            </a:r>
          </a:p>
          <a:p/>
          <a:p>
            <a:r>
              <a:t>I am Dharma. I speak first because I am the Scrum Master and the developer. I will tell you what I did in those two roles. After that I will ask five technical questions and five ethical questions. I answer each one first, then I ask Jenish, Krishna, and Suraj to add their 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Say this before any question.</a:t>
            </a:r>
          </a:p>
          <a:p/>
          <a:p>
            <a:r>
              <a:t>I am the Scrum Master, so I speak before the others. The idea is mine, and so is the order. Account had to work first, because nothing else is safe until a person can sign in. Jobs and shifts next, because the pay rate lives on the job. Money after that. The 48-hour rule is a sum of shifts, so it waited until shifts existed. Aura was last, because it needs hours and goals before it has anything to say.</a:t>
            </a:r>
          </a:p>
          <a:p/>
          <a:p>
            <a:r>
              <a:t>We stayed four. If we had slipped, I would have moved a story. I would not have opened a fifth seat in the last weeks. Jenish, Krishna, and Suraj each had a clear part. They will go deeper after I ask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Still me, now as the developer.</a:t>
            </a:r>
          </a:p>
          <a:p/>
          <a:p>
            <a:r>
              <a:t>The React page only calls the API. JWT is checked on the API. Register stores PasswordHash through ASP.NET Identity. A Pending or Rejected account does not receive a token.</a:t>
            </a:r>
          </a:p>
          <a:p/>
          <a:p>
            <a:r>
              <a:t>Controllers stay thin. ShiftService loads the job rate, calculates the hours, and asks VisaComplianceService before it inserts. Over 48, nothing is stored.</a:t>
            </a:r>
          </a:p>
          <a:p/>
          <a:p>
            <a:r>
              <a:t>I ran the tests for this talk. 29 passed. The missing one is a shift that would cross 48 hours. Alice on the live screen is at 7.5 of 48. I will not say she is already over.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linger. Start technical question 1. I answer, then I name who I am asking.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 GET puts the query in the URL, so it lands in logs and history. A POST sends the body, and POST /api/Shifts inserts a row. We have no PATCH. PUT /api/Shifts/{id} replaces the date, the times, the break, and the job, then recalculates the pay. PATCH would change only the field you sent. A short PUT can wipe the fields you left out.</a:t>
            </a:r>
          </a:p>
          <a:p/>
          <a:p>
            <a:r>
              <a:t>Then I ask: Jenish: if Save is a GET, is the shift stored, and is the body visible in the address bar?</a:t>
            </a:r>
          </a:p>
          <a:p>
            <a:r>
              <a:t>Krishna: we send a full ShiftRequest on PUT. What happens to EndTime if the body omits it?</a:t>
            </a:r>
          </a:p>
          <a:p>
            <a:r>
              <a:t>Suraj: POST the same $210 shift twice. Does the week show $210 or $420?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Localhost is this machine only: page 5173, API 5203, Aura 8000. A cookie rides with the browser. A session sits in server memory. We use two tokens. The access token is a signed JWT for 15 minutes. It goes on every call, and it is not stored. The refresh token is random, stored on the user for 7 days, and it only asks for a new access token. Logout clears it. An expired access token does not stay valid.</a:t>
            </a:r>
          </a:p>
          <a:p/>
          <a:p>
            <a:r>
              <a:t>Then I ask: Jenish: a Pending login is stopped before the hash is checked. Is that still 401?</a:t>
            </a:r>
          </a:p>
          <a:p>
            <a:r>
              <a:t>Krishna: the socket reads the access token from the query. If that 15-minute token is expired, does the 7-day refresh token keep it open?</a:t>
            </a:r>
          </a:p>
          <a:p>
            <a:r>
              <a:t>Suraj: can the dashboard dollars be read with the refresh token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Ours is Entity Framework Core. The classes become the tables. It writes the SQL, tracks what changed, and runs the migrations, including NormalizeTo3NF. It also gives us the foreign keys and the delete rules. It does not know the 48-hour rule. That stays in the visa service. A junior thinks the ORM is the business rule. It is only the mapping.</a:t>
            </a:r>
          </a:p>
          <a:p/>
          <a:p>
            <a:r>
              <a:t>Then I ask: Jenish: if EF can save a shift, why does ShiftService still call the visa check first?</a:t>
            </a:r>
          </a:p>
          <a:p>
            <a:r>
              <a:t>Krishna: which delete rule did EF map, Cascade or Restrict, when a job still has shifts?</a:t>
            </a:r>
          </a:p>
          <a:p>
            <a:r>
              <a:t>Suraj: does the ORM store the 48-hour cap, or is that number calculated when the card is drawn?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ProtectedRoute only sends a signed-out person to /login, and AdminRoute guards the admin page. Hiding a page is not security. The API has [Authorize]. No token is 401. A student token on an admin action fails the role check. That is 403. A junior protects the route and leaves the API open. Then Swagger still saves the shift.</a:t>
            </a:r>
          </a:p>
          <a:p/>
          <a:p>
            <a:r>
              <a:t>Then I ask: Jenish: if I delete ProtectedRoute but leave [Authorize], can a stranger still POST a shift?</a:t>
            </a:r>
          </a:p>
          <a:p>
            <a:r>
              <a:t>Krishna: a student token calls approve. Is that 401 or 403?</a:t>
            </a:r>
          </a:p>
          <a:p>
            <a:r>
              <a:t>Suraj: if the page is hidden but the API is open, can someone still read Alice’s $210?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 and expense rows are small. The heavy files are the ID uploads in uploads/visas, and each one is capped at 5 MB, PDF or image. node_modules, bin, and obj are huge, and they are not what we deploy. We do not delete old shifts to save disk. Those rows are the pay record. We publish the built app, and we keep the visa files limited.</a:t>
            </a:r>
          </a:p>
          <a:p/>
          <a:p>
            <a:r>
              <a:t>Then I ask: Jenish: is it acceptable to delete last month’s shifts so the disk stays small?</a:t>
            </a:r>
          </a:p>
          <a:p>
            <a:r>
              <a:t>Krishna: the database stores the visa path, not the file bytes. Where do the bytes actually sit?</a:t>
            </a:r>
          </a:p>
          <a:p>
            <a:r>
              <a:t>Suraj: if two ID files are saved, does Alice’s $210 card get bigger, or only the disk?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an admin. The file is there so they can approve the person. A new account stays Pending until they do.</a:t>
            </a:r>
          </a:p>
          <a:p/>
          <a:p>
            <a:r>
              <a:t>Then I ask: Jenish: can a normal user open it?</a:t>
            </a:r>
          </a:p>
          <a:p>
            <a:r>
              <a:t>Krishna: is the file stored in the password table?</a:t>
            </a:r>
          </a:p>
          <a:p>
            <a:r>
              <a:t>Suraj: would you put it in an export?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We store PasswordHash. The typed password stays out of the log, the table, and the API response.</a:t>
            </a:r>
          </a:p>
          <a:p/>
          <a:p>
            <a:r>
              <a:t>Then I ask: Jenish: would you print it to debug?</a:t>
            </a:r>
          </a:p>
          <a:p>
            <a:r>
              <a:t>Krishna: is the typed password in the table?</a:t>
            </a:r>
          </a:p>
          <a:p>
            <a:r>
              <a:t>Suraj: would you put it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Alice is a student, so the limit is 48 hours in 14 days. Bob is a citizen, so that limit is not applied to him.</a:t>
            </a:r>
          </a:p>
          <a:p/>
          <a:p>
            <a:r>
              <a:t>Then I ask: Jenish: who is limited, Alice or Bob?</a:t>
            </a:r>
          </a:p>
          <a:p>
            <a:r>
              <a:t>Krishna: is 48 a column in the database?</a:t>
            </a:r>
          </a:p>
          <a:p>
            <a:r>
              <a:t>Suraj: what does Alice’s bar show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The query uses the signed-in user’s id. Pay, visa type, and savings stay private.</a:t>
            </a:r>
          </a:p>
          <a:p/>
          <a:p>
            <a:r>
              <a:t>Then I ask: Jenish: is one student allowed to open another’s pay?</a:t>
            </a:r>
          </a:p>
          <a:p>
            <a:r>
              <a:t>Krishna: is that pay private?</a:t>
            </a:r>
          </a:p>
          <a:p>
            <a:r>
              <a:t>Suraj: would an export include someone else’s rows?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Aura only sees that user’s own figures. The visa check still decides whether the shift is saved.</a:t>
            </a:r>
          </a:p>
          <a:p/>
          <a:p>
            <a:r>
              <a:t>Then I ask: Jenish: can Aura override the 48-hour rule?</a:t>
            </a:r>
          </a:p>
          <a:p>
            <a:r>
              <a:t>Krishna: does Aura write a shift row?</a:t>
            </a:r>
          </a:p>
          <a:p>
            <a:r>
              <a:t>Suraj: if Aura is off, do the numbers still show?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65760"/>
            <a:ext cx="10972800" cy="320040"/>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PRT681    ·    GROUP 4    ·    I SPEAK FIRST</a:t>
            </a:r>
          </a:p>
        </p:txBody>
      </p:sp>
      <p:sp>
        <p:nvSpPr>
          <p:cNvPr id="6" name="TextBox 5"/>
          <p:cNvSpPr txBox="1"/>
          <p:nvPr/>
        </p:nvSpPr>
        <p:spPr>
          <a:xfrm>
            <a:off x="548640" y="822960"/>
            <a:ext cx="10972800" cy="731520"/>
          </a:xfrm>
          <a:prstGeom prst="rect">
            <a:avLst/>
          </a:prstGeom>
          <a:noFill/>
        </p:spPr>
        <p:txBody>
          <a:bodyPr wrap="square" lIns="0" rIns="0" tIns="0" bIns="0" anchor="t"/>
          <a:lstStyle/>
          <a:p>
            <a:pPr algn="l">
              <a:spcBef>
                <a:spcPts val="0"/>
              </a:spcBef>
              <a:spcAft>
                <a:spcPts val="0"/>
              </a:spcAft>
            </a:pPr>
            <a:r>
              <a:rPr sz="3600" b="1">
                <a:solidFill>
                  <a:srgbClr val="111111"/>
                </a:solidFill>
                <a:latin typeface="Calibri"/>
              </a:rPr>
              <a:t>Dharma Bahadur Budhathoki</a:t>
            </a:r>
          </a:p>
        </p:txBody>
      </p:sp>
      <p:sp>
        <p:nvSpPr>
          <p:cNvPr id="7" name="TextBox 6"/>
          <p:cNvSpPr txBox="1"/>
          <p:nvPr/>
        </p:nvSpPr>
        <p:spPr>
          <a:xfrm>
            <a:off x="548640" y="1600200"/>
            <a:ext cx="10972800" cy="365760"/>
          </a:xfrm>
          <a:prstGeom prst="rect">
            <a:avLst/>
          </a:prstGeom>
          <a:noFill/>
        </p:spPr>
        <p:txBody>
          <a:bodyPr wrap="square" lIns="0" rIns="0" tIns="0" bIns="0" anchor="t"/>
          <a:lstStyle/>
          <a:p>
            <a:pPr algn="l">
              <a:spcBef>
                <a:spcPts val="0"/>
              </a:spcBef>
              <a:spcAft>
                <a:spcPts val="0"/>
              </a:spcAft>
            </a:pPr>
            <a:r>
              <a:rPr sz="1800" b="0">
                <a:solidFill>
                  <a:srgbClr val="444444"/>
                </a:solidFill>
                <a:latin typeface="Calibri"/>
              </a:rPr>
              <a:t>S395172</a:t>
            </a:r>
          </a:p>
        </p:txBody>
      </p:sp>
      <p:sp>
        <p:nvSpPr>
          <p:cNvPr id="8" name="TextBox 7"/>
          <p:cNvSpPr txBox="1"/>
          <p:nvPr/>
        </p:nvSpPr>
        <p:spPr>
          <a:xfrm>
            <a:off x="548640" y="2103120"/>
            <a:ext cx="10972800" cy="640080"/>
          </a:xfrm>
          <a:prstGeom prst="rect">
            <a:avLst/>
          </a:prstGeom>
          <a:noFill/>
        </p:spPr>
        <p:txBody>
          <a:bodyPr wrap="square" lIns="0" rIns="0" tIns="0" bIns="0" anchor="t"/>
          <a:lstStyle/>
          <a:p>
            <a:pPr algn="l">
              <a:spcBef>
                <a:spcPts val="0"/>
              </a:spcBef>
              <a:spcAft>
                <a:spcPts val="0"/>
              </a:spcAft>
            </a:pPr>
            <a:r>
              <a:rPr sz="2800" b="1">
                <a:solidFill>
                  <a:srgbClr val="111111"/>
                </a:solidFill>
                <a:latin typeface="Calibri"/>
              </a:rPr>
              <a:t>Developer and Scrum Master</a:t>
            </a:r>
          </a:p>
        </p:txBody>
      </p:sp>
      <p:sp>
        <p:nvSpPr>
          <p:cNvPr id="9" name="Rectangle 8"/>
          <p:cNvSpPr/>
          <p:nvPr/>
        </p:nvSpPr>
        <p:spPr>
          <a:xfrm>
            <a:off x="548640" y="3017520"/>
            <a:ext cx="5303520" cy="21031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017520"/>
            <a:ext cx="530352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46120"/>
            <a:ext cx="484632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First I tell you what I did</a:t>
            </a:r>
          </a:p>
        </p:txBody>
      </p:sp>
      <p:sp>
        <p:nvSpPr>
          <p:cNvPr id="12" name="TextBox 11"/>
          <p:cNvSpPr txBox="1"/>
          <p:nvPr/>
        </p:nvSpPr>
        <p:spPr>
          <a:xfrm>
            <a:off x="777240" y="3749039"/>
            <a:ext cx="4846320" cy="10972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Scrum Master: the order of the work,</a:t>
            </a:r>
          </a:p>
          <a:p>
            <a:pPr algn="l">
              <a:spcBef>
                <a:spcPts val="0"/>
              </a:spcBef>
              <a:spcAft>
                <a:spcPts val="0"/>
              </a:spcAft>
            </a:pPr>
            <a:r>
              <a:rPr sz="1600" b="0">
                <a:solidFill>
                  <a:srgbClr val="111111"/>
                </a:solidFill>
                <a:latin typeface="Calibri"/>
              </a:rPr>
              <a:t>and why we stayed four.</a:t>
            </a:r>
          </a:p>
          <a:p>
            <a:pPr algn="l">
              <a:spcBef>
                <a:spcPts val="0"/>
              </a:spcBef>
              <a:spcAft>
                <a:spcPts val="0"/>
              </a:spcAft>
            </a:pPr>
            <a:r>
              <a:rPr sz="1600" b="0">
                <a:solidFill>
                  <a:srgbClr val="111111"/>
                </a:solidFill>
                <a:latin typeface="Calibri"/>
              </a:rPr>
              <a:t>Developer: the API, the hash, the visa check.</a:t>
            </a:r>
          </a:p>
        </p:txBody>
      </p:sp>
      <p:sp>
        <p:nvSpPr>
          <p:cNvPr id="13" name="Rectangle 12"/>
          <p:cNvSpPr/>
          <p:nvPr/>
        </p:nvSpPr>
        <p:spPr>
          <a:xfrm>
            <a:off x="6126480" y="3017520"/>
            <a:ext cx="5394960" cy="210312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3017520"/>
            <a:ext cx="539496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246120"/>
            <a:ext cx="4937760" cy="36576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Then I ask everyone</a:t>
            </a:r>
          </a:p>
        </p:txBody>
      </p:sp>
      <p:sp>
        <p:nvSpPr>
          <p:cNvPr id="16" name="TextBox 15"/>
          <p:cNvSpPr txBox="1"/>
          <p:nvPr/>
        </p:nvSpPr>
        <p:spPr>
          <a:xfrm>
            <a:off x="6355080" y="3749039"/>
            <a:ext cx="4937760" cy="10972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Five technical questions.</a:t>
            </a:r>
          </a:p>
          <a:p>
            <a:pPr algn="l">
              <a:spcBef>
                <a:spcPts val="0"/>
              </a:spcBef>
              <a:spcAft>
                <a:spcPts val="0"/>
              </a:spcAft>
            </a:pPr>
            <a:r>
              <a:rPr sz="1600" b="0">
                <a:solidFill>
                  <a:srgbClr val="111111"/>
                </a:solidFill>
                <a:latin typeface="Calibri"/>
              </a:rPr>
              <a:t>Five ethical questions.</a:t>
            </a:r>
          </a:p>
          <a:p>
            <a:pPr algn="l">
              <a:spcBef>
                <a:spcPts val="0"/>
              </a:spcBef>
              <a:spcAft>
                <a:spcPts val="0"/>
              </a:spcAft>
            </a:pPr>
            <a:r>
              <a:rPr sz="1600" b="0">
                <a:solidFill>
                  <a:srgbClr val="111111"/>
                </a:solidFill>
                <a:latin typeface="Calibri"/>
              </a:rPr>
              <a:t>I answer first. Then Jenish, Krishna, and Suraj.</a:t>
            </a:r>
          </a:p>
        </p:txBody>
      </p:sp>
      <p:sp>
        <p:nvSpPr>
          <p:cNvPr id="17" name="TextBox 16"/>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a:t>
            </a:r>
          </a:p>
        </p:txBody>
      </p:sp>
      <p:sp>
        <p:nvSpPr>
          <p:cNvPr id="18" name="TextBox 17"/>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972800" cy="274320"/>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SCRUM MASTER</a:t>
            </a:r>
          </a:p>
        </p:txBody>
      </p:sp>
      <p:sp>
        <p:nvSpPr>
          <p:cNvPr id="5" name="TextBox 4"/>
          <p:cNvSpPr txBox="1"/>
          <p:nvPr/>
        </p:nvSpPr>
        <p:spPr>
          <a:xfrm>
            <a:off x="502920" y="566928"/>
            <a:ext cx="10972800" cy="45720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What I did first</a:t>
            </a:r>
          </a:p>
        </p:txBody>
      </p:sp>
      <p:sp>
        <p:nvSpPr>
          <p:cNvPr id="6" name="Rectangle 5"/>
          <p:cNvSpPr/>
          <p:nvPr/>
        </p:nvSpPr>
        <p:spPr>
          <a:xfrm>
            <a:off x="502920" y="1097280"/>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71600"/>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36192"/>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The idea and the order</a:t>
            </a:r>
          </a:p>
        </p:txBody>
      </p:sp>
      <p:sp>
        <p:nvSpPr>
          <p:cNvPr id="10" name="TextBox 9"/>
          <p:cNvSpPr txBox="1"/>
          <p:nvPr/>
        </p:nvSpPr>
        <p:spPr>
          <a:xfrm>
            <a:off x="731520" y="1901952"/>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I owned the product idea, and I set the order the team built it in.</a:t>
            </a:r>
          </a:p>
        </p:txBody>
      </p:sp>
      <p:sp>
        <p:nvSpPr>
          <p:cNvPr id="11" name="Rectangle 10"/>
          <p:cNvSpPr/>
          <p:nvPr/>
        </p:nvSpPr>
        <p:spPr>
          <a:xfrm>
            <a:off x="502920" y="2578608"/>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43200"/>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Five phases</a:t>
            </a:r>
          </a:p>
        </p:txBody>
      </p:sp>
      <p:sp>
        <p:nvSpPr>
          <p:cNvPr id="14" name="TextBox 13"/>
          <p:cNvSpPr txBox="1"/>
          <p:nvPr/>
        </p:nvSpPr>
        <p:spPr>
          <a:xfrm>
            <a:off x="731520" y="3108960"/>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Account, then jobs and shifts, then money, then the 48-hour rule, then Aura.</a:t>
            </a:r>
          </a:p>
        </p:txBody>
      </p:sp>
      <p:sp>
        <p:nvSpPr>
          <p:cNvPr id="15" name="Rectangle 14"/>
          <p:cNvSpPr/>
          <p:nvPr/>
        </p:nvSpPr>
        <p:spPr>
          <a:xfrm>
            <a:off x="502920" y="3785616"/>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785616"/>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50208"/>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Four people</a:t>
            </a:r>
          </a:p>
        </p:txBody>
      </p:sp>
      <p:sp>
        <p:nvSpPr>
          <p:cNvPr id="18" name="TextBox 17"/>
          <p:cNvSpPr txBox="1"/>
          <p:nvPr/>
        </p:nvSpPr>
        <p:spPr>
          <a:xfrm>
            <a:off x="731520" y="4315968"/>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Jenish on the rules, Krishna on the tables, Suraj on the numbers. I did not add a fifth person.</a:t>
            </a:r>
          </a:p>
        </p:txBody>
      </p:sp>
      <p:sp>
        <p:nvSpPr>
          <p:cNvPr id="19" name="Rectangle 18"/>
          <p:cNvSpPr/>
          <p:nvPr/>
        </p:nvSpPr>
        <p:spPr>
          <a:xfrm>
            <a:off x="502920" y="4992624"/>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992624"/>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57216"/>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Done meant usable</a:t>
            </a:r>
          </a:p>
        </p:txBody>
      </p:sp>
      <p:sp>
        <p:nvSpPr>
          <p:cNvPr id="22" name="TextBox 21"/>
          <p:cNvSpPr txBox="1"/>
          <p:nvPr/>
        </p:nvSpPr>
        <p:spPr>
          <a:xfrm>
            <a:off x="731520" y="5522976"/>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 phase was finished when you could use it, not when a document said so.</a:t>
            </a:r>
          </a:p>
        </p:txBody>
      </p:sp>
      <p:sp>
        <p:nvSpPr>
          <p:cNvPr id="23" name="TextBox 22"/>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2</a:t>
            </a:r>
          </a:p>
        </p:txBody>
      </p:sp>
      <p:sp>
        <p:nvSpPr>
          <p:cNvPr id="24" name="TextBox 23"/>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972800" cy="274320"/>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DEVELOPER</a:t>
            </a:r>
          </a:p>
        </p:txBody>
      </p:sp>
      <p:sp>
        <p:nvSpPr>
          <p:cNvPr id="5" name="TextBox 4"/>
          <p:cNvSpPr txBox="1"/>
          <p:nvPr/>
        </p:nvSpPr>
        <p:spPr>
          <a:xfrm>
            <a:off x="502920" y="566928"/>
            <a:ext cx="10972800" cy="457200"/>
          </a:xfrm>
          <a:prstGeom prst="rect">
            <a:avLst/>
          </a:prstGeom>
          <a:noFill/>
        </p:spPr>
        <p:txBody>
          <a:bodyPr wrap="square" lIns="0" rIns="0" tIns="0" bIns="0" anchor="t"/>
          <a:lstStyle/>
          <a:p>
            <a:pPr algn="l">
              <a:spcBef>
                <a:spcPts val="0"/>
              </a:spcBef>
              <a:spcAft>
                <a:spcPts val="0"/>
              </a:spcAft>
            </a:pPr>
            <a:r>
              <a:rPr sz="3200" b="1">
                <a:solidFill>
                  <a:srgbClr val="111111"/>
                </a:solidFill>
                <a:latin typeface="Calibri"/>
              </a:rPr>
              <a:t>What I built</a:t>
            </a:r>
          </a:p>
        </p:txBody>
      </p:sp>
      <p:sp>
        <p:nvSpPr>
          <p:cNvPr id="6" name="Rectangle 5"/>
          <p:cNvSpPr/>
          <p:nvPr/>
        </p:nvSpPr>
        <p:spPr>
          <a:xfrm>
            <a:off x="502920" y="1097280"/>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371600"/>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36192"/>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The page talks only to the API</a:t>
            </a:r>
          </a:p>
        </p:txBody>
      </p:sp>
      <p:sp>
        <p:nvSpPr>
          <p:cNvPr id="10" name="TextBox 9"/>
          <p:cNvSpPr txBox="1"/>
          <p:nvPr/>
        </p:nvSpPr>
        <p:spPr>
          <a:xfrm>
            <a:off x="731520" y="1901952"/>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React on 5173. ASP.NET Core on 5203. The browser never opens PostgreSQL.</a:t>
            </a:r>
          </a:p>
        </p:txBody>
      </p:sp>
      <p:sp>
        <p:nvSpPr>
          <p:cNvPr id="11" name="Rectangle 10"/>
          <p:cNvSpPr/>
          <p:nvPr/>
        </p:nvSpPr>
        <p:spPr>
          <a:xfrm>
            <a:off x="502920" y="2578608"/>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43200"/>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Sign-in</a:t>
            </a:r>
          </a:p>
        </p:txBody>
      </p:sp>
      <p:sp>
        <p:nvSpPr>
          <p:cNvPr id="14" name="TextBox 13"/>
          <p:cNvSpPr txBox="1"/>
          <p:nvPr/>
        </p:nvSpPr>
        <p:spPr>
          <a:xfrm>
            <a:off x="731520" y="3108960"/>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Identity stores PasswordHash. A good sign-in returns a JWT. Pending accounts get no token.</a:t>
            </a:r>
          </a:p>
        </p:txBody>
      </p:sp>
      <p:sp>
        <p:nvSpPr>
          <p:cNvPr id="15" name="Rectangle 14"/>
          <p:cNvSpPr/>
          <p:nvPr/>
        </p:nvSpPr>
        <p:spPr>
          <a:xfrm>
            <a:off x="502920" y="3785616"/>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785616"/>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50208"/>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Services hold the rules</a:t>
            </a:r>
          </a:p>
        </p:txBody>
      </p:sp>
      <p:sp>
        <p:nvSpPr>
          <p:cNvPr id="18" name="TextBox 17"/>
          <p:cNvSpPr txBox="1"/>
          <p:nvPr/>
        </p:nvSpPr>
        <p:spPr>
          <a:xfrm>
            <a:off x="731520" y="4315968"/>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The controller calls a service. The 48-hour check runs before a shift is inserted.</a:t>
            </a:r>
          </a:p>
        </p:txBody>
      </p:sp>
      <p:sp>
        <p:nvSpPr>
          <p:cNvPr id="19" name="Rectangle 18"/>
          <p:cNvSpPr/>
          <p:nvPr/>
        </p:nvSpPr>
        <p:spPr>
          <a:xfrm>
            <a:off x="502920" y="4992624"/>
            <a:ext cx="11155680" cy="109728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992624"/>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57216"/>
            <a:ext cx="10698480" cy="320040"/>
          </a:xfrm>
          <a:prstGeom prst="rect">
            <a:avLst/>
          </a:prstGeom>
          <a:noFill/>
        </p:spPr>
        <p:txBody>
          <a:bodyPr wrap="square" lIns="0" rIns="0" tIns="0" bIns="0" anchor="t"/>
          <a:lstStyle/>
          <a:p>
            <a:pPr algn="l">
              <a:spcBef>
                <a:spcPts val="0"/>
              </a:spcBef>
              <a:spcAft>
                <a:spcPts val="0"/>
              </a:spcAft>
            </a:pPr>
            <a:r>
              <a:rPr sz="1800" b="1">
                <a:solidFill>
                  <a:srgbClr val="111111"/>
                </a:solidFill>
                <a:latin typeface="Calibri"/>
              </a:rPr>
              <a:t>Tests, and the one I still owe</a:t>
            </a:r>
          </a:p>
        </p:txBody>
      </p:sp>
      <p:sp>
        <p:nvSpPr>
          <p:cNvPr id="22" name="TextBox 21"/>
          <p:cNvSpPr txBox="1"/>
          <p:nvPr/>
        </p:nvSpPr>
        <p:spPr>
          <a:xfrm>
            <a:off x="731520" y="5522976"/>
            <a:ext cx="10698480" cy="41148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29 passed, none failed. There is still no test that posts a shift past 48 hours.</a:t>
            </a:r>
          </a:p>
        </p:txBody>
      </p:sp>
      <p:sp>
        <p:nvSpPr>
          <p:cNvPr id="23" name="TextBox 22"/>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3</a:t>
            </a:r>
          </a:p>
        </p:txBody>
      </p:sp>
      <p:sp>
        <p:nvSpPr>
          <p:cNvPr id="24" name="TextBox 23"/>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972800" cy="274320"/>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a:t>
            </a:r>
          </a:p>
        </p:txBody>
      </p:sp>
      <p:sp>
        <p:nvSpPr>
          <p:cNvPr id="5" name="TextBox 4"/>
          <p:cNvSpPr txBox="1"/>
          <p:nvPr/>
        </p:nvSpPr>
        <p:spPr>
          <a:xfrm>
            <a:off x="502920" y="566928"/>
            <a:ext cx="10972800" cy="548640"/>
          </a:xfrm>
          <a:prstGeom prst="rect">
            <a:avLst/>
          </a:prstGeom>
          <a:noFill/>
        </p:spPr>
        <p:txBody>
          <a:bodyPr wrap="square" lIns="0" rIns="0" tIns="0" bIns="0" anchor="t"/>
          <a:lstStyle/>
          <a:p>
            <a:pPr algn="l">
              <a:spcBef>
                <a:spcPts val="0"/>
              </a:spcBef>
              <a:spcAft>
                <a:spcPts val="0"/>
              </a:spcAft>
            </a:pPr>
            <a:r>
              <a:rPr sz="2800" b="1">
                <a:solidFill>
                  <a:srgbClr val="111111"/>
                </a:solidFill>
                <a:latin typeface="Calibri"/>
              </a:rPr>
              <a:t>I answer first. Then I ask all three.</a:t>
            </a:r>
          </a:p>
        </p:txBody>
      </p:sp>
      <p:sp>
        <p:nvSpPr>
          <p:cNvPr id="6" name="Rectangle 5"/>
          <p:cNvSpPr/>
          <p:nvPr/>
        </p:nvSpPr>
        <p:spPr>
          <a:xfrm>
            <a:off x="502920" y="1280160"/>
            <a:ext cx="11183112" cy="32004"/>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00200"/>
            <a:ext cx="3611880" cy="3108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828800"/>
            <a:ext cx="3200400" cy="73152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Jenish Gurung</a:t>
            </a:r>
          </a:p>
        </p:txBody>
      </p:sp>
      <p:sp>
        <p:nvSpPr>
          <p:cNvPr id="10" name="TextBox 9"/>
          <p:cNvSpPr txBox="1"/>
          <p:nvPr/>
        </p:nvSpPr>
        <p:spPr>
          <a:xfrm>
            <a:off x="704088" y="2606040"/>
            <a:ext cx="3200400" cy="365760"/>
          </a:xfrm>
          <a:prstGeom prst="rect">
            <a:avLst/>
          </a:prstGeom>
          <a:noFill/>
        </p:spPr>
        <p:txBody>
          <a:bodyPr wrap="square" lIns="0" rIns="0" tIns="0" bIns="0" anchor="t"/>
          <a:lstStyle/>
          <a:p>
            <a:pPr algn="l">
              <a:spcBef>
                <a:spcPts val="0"/>
              </a:spcBef>
              <a:spcAft>
                <a:spcPts val="0"/>
              </a:spcAft>
            </a:pPr>
            <a:r>
              <a:rPr sz="1500" b="1">
                <a:solidFill>
                  <a:srgbClr val="0E7C7B"/>
                </a:solidFill>
                <a:latin typeface="Calibri"/>
              </a:rPr>
              <a:t>The rules</a:t>
            </a:r>
          </a:p>
        </p:txBody>
      </p:sp>
      <p:sp>
        <p:nvSpPr>
          <p:cNvPr id="11" name="TextBox 10"/>
          <p:cNvSpPr txBox="1"/>
          <p:nvPr/>
        </p:nvSpPr>
        <p:spPr>
          <a:xfrm>
            <a:off x="704088" y="3108960"/>
            <a:ext cx="3200400" cy="128016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Approval, who the 48 hours apply to, and what may be saved.</a:t>
            </a:r>
          </a:p>
        </p:txBody>
      </p:sp>
      <p:sp>
        <p:nvSpPr>
          <p:cNvPr id="12" name="Rectangle 11"/>
          <p:cNvSpPr/>
          <p:nvPr/>
        </p:nvSpPr>
        <p:spPr>
          <a:xfrm>
            <a:off x="4297680" y="1600200"/>
            <a:ext cx="3611880" cy="3108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60020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828800"/>
            <a:ext cx="3200400" cy="73152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Krishna Sapkota</a:t>
            </a:r>
          </a:p>
        </p:txBody>
      </p:sp>
      <p:sp>
        <p:nvSpPr>
          <p:cNvPr id="15" name="TextBox 14"/>
          <p:cNvSpPr txBox="1"/>
          <p:nvPr/>
        </p:nvSpPr>
        <p:spPr>
          <a:xfrm>
            <a:off x="4498848" y="2606040"/>
            <a:ext cx="3200400" cy="365760"/>
          </a:xfrm>
          <a:prstGeom prst="rect">
            <a:avLst/>
          </a:prstGeom>
          <a:noFill/>
        </p:spPr>
        <p:txBody>
          <a:bodyPr wrap="square" lIns="0" rIns="0" tIns="0" bIns="0" anchor="t"/>
          <a:lstStyle/>
          <a:p>
            <a:pPr algn="l">
              <a:spcBef>
                <a:spcPts val="0"/>
              </a:spcBef>
              <a:spcAft>
                <a:spcPts val="0"/>
              </a:spcAft>
            </a:pPr>
            <a:r>
              <a:rPr sz="1500" b="1">
                <a:solidFill>
                  <a:srgbClr val="0E7C7B"/>
                </a:solidFill>
                <a:latin typeface="Calibri"/>
              </a:rPr>
              <a:t>The database and the tests</a:t>
            </a:r>
          </a:p>
        </p:txBody>
      </p:sp>
      <p:sp>
        <p:nvSpPr>
          <p:cNvPr id="16" name="TextBox 15"/>
          <p:cNvSpPr txBox="1"/>
          <p:nvPr/>
        </p:nvSpPr>
        <p:spPr>
          <a:xfrm>
            <a:off x="4498848" y="3108960"/>
            <a:ext cx="3200400" cy="128016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Where each fact lives, and the test we still owe.</a:t>
            </a:r>
          </a:p>
        </p:txBody>
      </p:sp>
      <p:sp>
        <p:nvSpPr>
          <p:cNvPr id="17" name="Rectangle 16"/>
          <p:cNvSpPr/>
          <p:nvPr/>
        </p:nvSpPr>
        <p:spPr>
          <a:xfrm>
            <a:off x="8092440" y="1600200"/>
            <a:ext cx="3611880" cy="3108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600200"/>
            <a:ext cx="36118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828800"/>
            <a:ext cx="3200400" cy="731520"/>
          </a:xfrm>
          <a:prstGeom prst="rect">
            <a:avLst/>
          </a:prstGeom>
          <a:noFill/>
        </p:spPr>
        <p:txBody>
          <a:bodyPr wrap="square" lIns="0" rIns="0" tIns="0" bIns="0" anchor="t"/>
          <a:lstStyle/>
          <a:p>
            <a:pPr algn="l">
              <a:spcBef>
                <a:spcPts val="0"/>
              </a:spcBef>
              <a:spcAft>
                <a:spcPts val="0"/>
              </a:spcAft>
            </a:pPr>
            <a:r>
              <a:rPr sz="2000" b="1">
                <a:solidFill>
                  <a:srgbClr val="111111"/>
                </a:solidFill>
                <a:latin typeface="Calibri"/>
              </a:rPr>
              <a:t>Suraj Khadka</a:t>
            </a:r>
          </a:p>
        </p:txBody>
      </p:sp>
      <p:sp>
        <p:nvSpPr>
          <p:cNvPr id="20" name="TextBox 19"/>
          <p:cNvSpPr txBox="1"/>
          <p:nvPr/>
        </p:nvSpPr>
        <p:spPr>
          <a:xfrm>
            <a:off x="8293608" y="2606040"/>
            <a:ext cx="3200400" cy="365760"/>
          </a:xfrm>
          <a:prstGeom prst="rect">
            <a:avLst/>
          </a:prstGeom>
          <a:noFill/>
        </p:spPr>
        <p:txBody>
          <a:bodyPr wrap="square" lIns="0" rIns="0" tIns="0" bIns="0" anchor="t"/>
          <a:lstStyle/>
          <a:p>
            <a:pPr algn="l">
              <a:spcBef>
                <a:spcPts val="0"/>
              </a:spcBef>
              <a:spcAft>
                <a:spcPts val="0"/>
              </a:spcAft>
            </a:pPr>
            <a:r>
              <a:rPr sz="1500" b="1">
                <a:solidFill>
                  <a:srgbClr val="0E7C7B"/>
                </a:solidFill>
                <a:latin typeface="Calibri"/>
              </a:rPr>
              <a:t>The numbers</a:t>
            </a:r>
          </a:p>
        </p:txBody>
      </p:sp>
      <p:sp>
        <p:nvSpPr>
          <p:cNvPr id="21" name="TextBox 20"/>
          <p:cNvSpPr txBox="1"/>
          <p:nvPr/>
        </p:nvSpPr>
        <p:spPr>
          <a:xfrm>
            <a:off x="8293608" y="3108960"/>
            <a:ext cx="3200400" cy="1280160"/>
          </a:xfrm>
          <a:prstGeom prst="rect">
            <a:avLst/>
          </a:prstGeom>
          <a:noFill/>
        </p:spPr>
        <p:txBody>
          <a:bodyPr wrap="square" lIns="0" rIns="0" tIns="0" bIns="0" anchor="t"/>
          <a:lstStyle/>
          <a:p>
            <a:pPr algn="l">
              <a:spcBef>
                <a:spcPts val="0"/>
              </a:spcBef>
              <a:spcAft>
                <a:spcPts val="0"/>
              </a:spcAft>
            </a:pPr>
            <a:r>
              <a:rPr sz="1600" b="0">
                <a:solidFill>
                  <a:srgbClr val="111111"/>
                </a:solidFill>
                <a:latin typeface="Calibri"/>
              </a:rPr>
              <a:t>Alice’s 7.5 hours, the $210, and the two different sums.</a:t>
            </a:r>
          </a:p>
        </p:txBody>
      </p:sp>
      <p:sp>
        <p:nvSpPr>
          <p:cNvPr id="22" name="TextBox 21"/>
          <p:cNvSpPr txBox="1"/>
          <p:nvPr/>
        </p:nvSpPr>
        <p:spPr>
          <a:xfrm>
            <a:off x="502920" y="4937760"/>
            <a:ext cx="11155680" cy="1097280"/>
          </a:xfrm>
          <a:prstGeom prst="rect">
            <a:avLst/>
          </a:prstGeom>
          <a:noFill/>
        </p:spPr>
        <p:txBody>
          <a:bodyPr wrap="square" lIns="0" rIns="0" tIns="0" bIns="0" anchor="t"/>
          <a:lstStyle/>
          <a:p>
            <a:pPr algn="l">
              <a:spcBef>
                <a:spcPts val="0"/>
              </a:spcBef>
              <a:spcAft>
                <a:spcPts val="0"/>
              </a:spcAft>
            </a:pPr>
            <a:r>
              <a:rPr sz="1800" b="0">
                <a:solidFill>
                  <a:srgbClr val="111111"/>
                </a:solidFill>
                <a:latin typeface="Calibri"/>
              </a:rPr>
              <a:t>Five technical questions, then five ethical ones.</a:t>
            </a:r>
          </a:p>
          <a:p>
            <a:pPr algn="l">
              <a:spcBef>
                <a:spcPts val="0"/>
              </a:spcBef>
              <a:spcAft>
                <a:spcPts val="0"/>
              </a:spcAft>
            </a:pPr>
            <a:r>
              <a:rPr sz="1800" b="0">
                <a:solidFill>
                  <a:srgbClr val="111111"/>
                </a:solidFill>
                <a:latin typeface="Calibri"/>
              </a:rPr>
              <a:t>I answer first, then I ask Jenish, Krishna, and Suraj.</a:t>
            </a:r>
          </a:p>
        </p:txBody>
      </p:sp>
      <p:sp>
        <p:nvSpPr>
          <p:cNvPr id="23" name="TextBox 22"/>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4</a:t>
            </a:r>
          </a:p>
        </p:txBody>
      </p:sp>
      <p:sp>
        <p:nvSpPr>
          <p:cNvPr id="24" name="TextBox 23"/>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TECHNICAL  ·  1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GET shows the data in the URL, and it can post as well. PUT and PATCH are the same, right?</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No. A GET puts the query in the URL, so it lands in logs and history. A POST sends the body, and POST /api/Shifts inserts a row. We have no PATCH. PUT /api/Shifts/{id} replaces the date, the times, the break, and the job, then recalculates the pay. PATCH would change only the field you sent. A short PUT can wipe the fields you left out.</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if Save is a GET, is the shift stored, and is the body visible in the address bar?</a:t>
            </a:r>
          </a:p>
          <a:p>
            <a:pPr algn="l">
              <a:spcBef>
                <a:spcPts val="0"/>
              </a:spcBef>
              <a:spcAft>
                <a:spcPts val="0"/>
              </a:spcAft>
            </a:pPr>
            <a:r>
              <a:rPr sz="1400" b="0">
                <a:solidFill>
                  <a:srgbClr val="111111"/>
                </a:solidFill>
                <a:latin typeface="Calibri"/>
              </a:rPr>
              <a:t>Krishna: we send a full ShiftRequest on PUT. What happens to EndTime if the body omits it?</a:t>
            </a:r>
          </a:p>
          <a:p>
            <a:pPr algn="l">
              <a:spcBef>
                <a:spcPts val="0"/>
              </a:spcBef>
              <a:spcAft>
                <a:spcPts val="0"/>
              </a:spcAft>
            </a:pPr>
            <a:r>
              <a:rPr sz="1400" b="0">
                <a:solidFill>
                  <a:srgbClr val="111111"/>
                </a:solidFill>
                <a:latin typeface="Calibri"/>
              </a:rPr>
              <a:t>Suraj: POST the same $210 shift twice. Does the week show $210 or $420?</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5</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TECHNICAL  ·  2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Why localhost, and is the refresh token the same as the access token?</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Localhost is this machine only: page 5173, API 5203, Aura 8000. A cookie rides with the browser. A session sits in server memory. We use two tokens. The access token is a signed JWT for 15 minutes. It goes on every call, and it is not stored. The refresh token is random, stored on the user for 7 days, and it only asks for a new access token. Logout clears it. An expired access token does not stay valid.</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a Pending login is stopped before the hash is checked. Is that still 401?</a:t>
            </a:r>
          </a:p>
          <a:p>
            <a:pPr algn="l">
              <a:spcBef>
                <a:spcPts val="0"/>
              </a:spcBef>
              <a:spcAft>
                <a:spcPts val="0"/>
              </a:spcAft>
            </a:pPr>
            <a:r>
              <a:rPr sz="1400" b="0">
                <a:solidFill>
                  <a:srgbClr val="111111"/>
                </a:solidFill>
                <a:latin typeface="Calibri"/>
              </a:rPr>
              <a:t>Krishna: the socket reads the access token from the query. If that 15-minute token is expired, does the 7-day refresh token keep it open?</a:t>
            </a:r>
          </a:p>
          <a:p>
            <a:pPr algn="l">
              <a:spcBef>
                <a:spcPts val="0"/>
              </a:spcBef>
              <a:spcAft>
                <a:spcPts val="0"/>
              </a:spcAft>
            </a:pPr>
            <a:r>
              <a:rPr sz="1400" b="0">
                <a:solidFill>
                  <a:srgbClr val="111111"/>
                </a:solidFill>
                <a:latin typeface="Calibri"/>
              </a:rPr>
              <a:t>Suraj: can the dashboard dollars be read with the refresh token alone?</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6</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TECHNICAL  ·  3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What is an ORM, and what does it actually give us?</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Ours is Entity Framework Core. The classes become the tables. It writes the SQL, tracks what changed, and runs the migrations, including NormalizeTo3NF. It also gives us the foreign keys and the delete rules. It does not know the 48-hour rule. That stays in the visa service. A junior thinks the ORM is the business rule. It is only the mapping.</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if EF can save a shift, why does ShiftService still call the visa check first?</a:t>
            </a:r>
          </a:p>
          <a:p>
            <a:pPr algn="l">
              <a:spcBef>
                <a:spcPts val="0"/>
              </a:spcBef>
              <a:spcAft>
                <a:spcPts val="0"/>
              </a:spcAft>
            </a:pPr>
            <a:r>
              <a:rPr sz="1400" b="0">
                <a:solidFill>
                  <a:srgbClr val="111111"/>
                </a:solidFill>
                <a:latin typeface="Calibri"/>
              </a:rPr>
              <a:t>Krishna: which delete rule did EF map, Cascade or Restrict, when a job still has shifts?</a:t>
            </a:r>
          </a:p>
          <a:p>
            <a:pPr algn="l">
              <a:spcBef>
                <a:spcPts val="0"/>
              </a:spcBef>
              <a:spcAft>
                <a:spcPts val="0"/>
              </a:spcAft>
            </a:pPr>
            <a:r>
              <a:rPr sz="1400" b="0">
                <a:solidFill>
                  <a:srgbClr val="111111"/>
                </a:solidFill>
                <a:latin typeface="Calibri"/>
              </a:rPr>
              <a:t>Suraj: does the ORM store the 48-hour cap, or is that number calculated when the card is drawn?</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7</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TECHNICAL  ·  4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A protected route in React is enough, right?</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No. ProtectedRoute only sends a signed-out person to /login, and AdminRoute guards the admin page. Hiding a page is not security. The API has [Authorize]. No token is 401. A student token on an admin action fails the role check. That is 403. A junior protects the route and leaves the API open. Then Swagger still saves the shift.</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if I delete ProtectedRoute but leave [Authorize], can a stranger still POST a shift?</a:t>
            </a:r>
          </a:p>
          <a:p>
            <a:pPr algn="l">
              <a:spcBef>
                <a:spcPts val="0"/>
              </a:spcBef>
              <a:spcAft>
                <a:spcPts val="0"/>
              </a:spcAft>
            </a:pPr>
            <a:r>
              <a:rPr sz="1400" b="0">
                <a:solidFill>
                  <a:srgbClr val="111111"/>
                </a:solidFill>
                <a:latin typeface="Calibri"/>
              </a:rPr>
              <a:t>Krishna: a student token calls approve. Is that 401 or 403?</a:t>
            </a:r>
          </a:p>
          <a:p>
            <a:pPr algn="l">
              <a:spcBef>
                <a:spcPts val="0"/>
              </a:spcBef>
              <a:spcAft>
                <a:spcPts val="0"/>
              </a:spcAft>
            </a:pPr>
            <a:r>
              <a:rPr sz="1400" b="0">
                <a:solidFill>
                  <a:srgbClr val="111111"/>
                </a:solidFill>
                <a:latin typeface="Calibri"/>
              </a:rPr>
              <a:t>Suraj: if the page is hidden but the API is open, can someone still read Alice’s $210?</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8</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TECHNICAL  ·  5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What fills the server, and how do we keep it small?</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The shift and expense rows are small. The heavy files are the ID uploads in uploads/visas, and each one is capped at 5 MB, PDF or image. node_modules, bin, and obj are huge, and they are not what we deploy. We do not delete old shifts to save disk. Those rows are the pay record. We publish the built app, and we keep the visa files limited.</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is it acceptable to delete last month’s shifts so the disk stays small?</a:t>
            </a:r>
          </a:p>
          <a:p>
            <a:pPr algn="l">
              <a:spcBef>
                <a:spcPts val="0"/>
              </a:spcBef>
              <a:spcAft>
                <a:spcPts val="0"/>
              </a:spcAft>
            </a:pPr>
            <a:r>
              <a:rPr sz="1400" b="0">
                <a:solidFill>
                  <a:srgbClr val="111111"/>
                </a:solidFill>
                <a:latin typeface="Calibri"/>
              </a:rPr>
              <a:t>Krishna: the database stores the visa path, not the file bytes. Where do the bytes actually sit?</a:t>
            </a:r>
          </a:p>
          <a:p>
            <a:pPr algn="l">
              <a:spcBef>
                <a:spcPts val="0"/>
              </a:spcBef>
              <a:spcAft>
                <a:spcPts val="0"/>
              </a:spcAft>
            </a:pPr>
            <a:r>
              <a:rPr sz="1400" b="0">
                <a:solidFill>
                  <a:srgbClr val="111111"/>
                </a:solidFill>
                <a:latin typeface="Calibri"/>
              </a:rPr>
              <a:t>Suraj: if two ID files are saved, does Alice’s $210 card get bigger, or only the disk?</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9</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ETHICAL  ·  1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Who can open the ID file?</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Only an admin. The file is there so they can approve the person. A new account stays Pending until they do.</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can a normal user open it?</a:t>
            </a:r>
          </a:p>
          <a:p>
            <a:pPr algn="l">
              <a:spcBef>
                <a:spcPts val="0"/>
              </a:spcBef>
              <a:spcAft>
                <a:spcPts val="0"/>
              </a:spcAft>
            </a:pPr>
            <a:r>
              <a:rPr sz="1400" b="0">
                <a:solidFill>
                  <a:srgbClr val="111111"/>
                </a:solidFill>
                <a:latin typeface="Calibri"/>
              </a:rPr>
              <a:t>Krishna: is the file stored in the password table?</a:t>
            </a:r>
          </a:p>
          <a:p>
            <a:pPr algn="l">
              <a:spcBef>
                <a:spcPts val="0"/>
              </a:spcBef>
              <a:spcAft>
                <a:spcPts val="0"/>
              </a:spcAft>
            </a:pPr>
            <a:r>
              <a:rPr sz="1400" b="0">
                <a:solidFill>
                  <a:srgbClr val="111111"/>
                </a:solidFill>
                <a:latin typeface="Calibri"/>
              </a:rPr>
              <a:t>Suraj: would you put it in an export?</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10</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ETHICAL  ·  2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Is it all right to print a password while we debug?</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No. We store PasswordHash. The typed password stays out of the log, the table, and the API response.</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would you print it to debug?</a:t>
            </a:r>
          </a:p>
          <a:p>
            <a:pPr algn="l">
              <a:spcBef>
                <a:spcPts val="0"/>
              </a:spcBef>
              <a:spcAft>
                <a:spcPts val="0"/>
              </a:spcAft>
            </a:pPr>
            <a:r>
              <a:rPr sz="1400" b="0">
                <a:solidFill>
                  <a:srgbClr val="111111"/>
                </a:solidFill>
                <a:latin typeface="Calibri"/>
              </a:rPr>
              <a:t>Krishna: is the typed password in the table?</a:t>
            </a:r>
          </a:p>
          <a:p>
            <a:pPr algn="l">
              <a:spcBef>
                <a:spcPts val="0"/>
              </a:spcBef>
              <a:spcAft>
                <a:spcPts val="0"/>
              </a:spcAft>
            </a:pPr>
            <a:r>
              <a:rPr sz="1400" b="0">
                <a:solidFill>
                  <a:srgbClr val="111111"/>
                </a:solidFill>
                <a:latin typeface="Calibri"/>
              </a:rPr>
              <a:t>Suraj: would you put it in a spreadsheet?</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11</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ETHICAL  ·  3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Why is Alice limited, and Bob is not?</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Alice is a student, so the limit is 48 hours in 14 days. Bob is a citizen, so that limit is not applied to him.</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who is limited, Alice or Bob?</a:t>
            </a:r>
          </a:p>
          <a:p>
            <a:pPr algn="l">
              <a:spcBef>
                <a:spcPts val="0"/>
              </a:spcBef>
              <a:spcAft>
                <a:spcPts val="0"/>
              </a:spcAft>
            </a:pPr>
            <a:r>
              <a:rPr sz="1400" b="0">
                <a:solidFill>
                  <a:srgbClr val="111111"/>
                </a:solidFill>
                <a:latin typeface="Calibri"/>
              </a:rPr>
              <a:t>Krishna: is 48 a column in the database?</a:t>
            </a:r>
          </a:p>
          <a:p>
            <a:pPr algn="l">
              <a:spcBef>
                <a:spcPts val="0"/>
              </a:spcBef>
              <a:spcAft>
                <a:spcPts val="0"/>
              </a:spcAft>
            </a:pPr>
            <a:r>
              <a:rPr sz="1400" b="0">
                <a:solidFill>
                  <a:srgbClr val="111111"/>
                </a:solidFill>
                <a:latin typeface="Calibri"/>
              </a:rPr>
              <a:t>Suraj: what does Alice’s bar show today?</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12</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ETHICAL  ·  4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Can one student see another student’s pay?</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No. The query uses the signed-in user’s id. Pay, visa type, and savings stay private.</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is one student allowed to open another’s pay?</a:t>
            </a:r>
          </a:p>
          <a:p>
            <a:pPr algn="l">
              <a:spcBef>
                <a:spcPts val="0"/>
              </a:spcBef>
              <a:spcAft>
                <a:spcPts val="0"/>
              </a:spcAft>
            </a:pPr>
            <a:r>
              <a:rPr sz="1400" b="0">
                <a:solidFill>
                  <a:srgbClr val="111111"/>
                </a:solidFill>
                <a:latin typeface="Calibri"/>
              </a:rPr>
              <a:t>Krishna: is that pay private?</a:t>
            </a:r>
          </a:p>
          <a:p>
            <a:pPr algn="l">
              <a:spcBef>
                <a:spcPts val="0"/>
              </a:spcBef>
              <a:spcAft>
                <a:spcPts val="0"/>
              </a:spcAft>
            </a:pPr>
            <a:r>
              <a:rPr sz="1400" b="0">
                <a:solidFill>
                  <a:srgbClr val="111111"/>
                </a:solidFill>
                <a:latin typeface="Calibri"/>
              </a:rPr>
              <a:t>Suraj: would an export include someone else’s rows?</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13</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972800" cy="256032"/>
          </a:xfrm>
          <a:prstGeom prst="rect">
            <a:avLst/>
          </a:prstGeom>
          <a:noFill/>
        </p:spPr>
        <p:txBody>
          <a:bodyPr wrap="square" lIns="0" rIns="0" tIns="0" bIns="0" anchor="t"/>
          <a:lstStyle/>
          <a:p>
            <a:pPr algn="l">
              <a:spcBef>
                <a:spcPts val="0"/>
              </a:spcBef>
              <a:spcAft>
                <a:spcPts val="0"/>
              </a:spcAft>
            </a:pPr>
            <a:r>
              <a:rPr sz="1300" b="1">
                <a:solidFill>
                  <a:srgbClr val="0E7C7B"/>
                </a:solidFill>
                <a:latin typeface="Calibri"/>
              </a:rPr>
              <a:t>ETHICAL  ·  5 OF 5</a:t>
            </a:r>
          </a:p>
        </p:txBody>
      </p:sp>
      <p:sp>
        <p:nvSpPr>
          <p:cNvPr id="5" name="TextBox 4"/>
          <p:cNvSpPr txBox="1"/>
          <p:nvPr/>
        </p:nvSpPr>
        <p:spPr>
          <a:xfrm>
            <a:off x="502920" y="475488"/>
            <a:ext cx="11155680" cy="960120"/>
          </a:xfrm>
          <a:prstGeom prst="rect">
            <a:avLst/>
          </a:prstGeom>
          <a:noFill/>
        </p:spPr>
        <p:txBody>
          <a:bodyPr wrap="square" lIns="0" rIns="0" tIns="0" bIns="0" anchor="t"/>
          <a:lstStyle/>
          <a:p>
            <a:pPr algn="l">
              <a:spcBef>
                <a:spcPts val="0"/>
              </a:spcBef>
              <a:spcAft>
                <a:spcPts val="0"/>
              </a:spcAft>
            </a:pPr>
            <a:r>
              <a:rPr sz="2200" b="1">
                <a:solidFill>
                  <a:srgbClr val="111111"/>
                </a:solidFill>
                <a:latin typeface="Calibri"/>
              </a:rPr>
              <a:t>Can Aura override the 48-hour rule?</a:t>
            </a:r>
          </a:p>
        </p:txBody>
      </p:sp>
      <p:sp>
        <p:nvSpPr>
          <p:cNvPr id="6" name="Rectangle 5"/>
          <p:cNvSpPr/>
          <p:nvPr/>
        </p:nvSpPr>
        <p:spPr>
          <a:xfrm>
            <a:off x="502920" y="1481328"/>
            <a:ext cx="11155680" cy="196596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09344"/>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I say this first</a:t>
            </a:r>
          </a:p>
        </p:txBody>
      </p:sp>
      <p:sp>
        <p:nvSpPr>
          <p:cNvPr id="9" name="TextBox 8"/>
          <p:cNvSpPr txBox="1"/>
          <p:nvPr/>
        </p:nvSpPr>
        <p:spPr>
          <a:xfrm>
            <a:off x="731520" y="1883664"/>
            <a:ext cx="10698480" cy="1417320"/>
          </a:xfrm>
          <a:prstGeom prst="rect">
            <a:avLst/>
          </a:prstGeom>
          <a:noFill/>
        </p:spPr>
        <p:txBody>
          <a:bodyPr wrap="square" lIns="0" rIns="0" tIns="0" bIns="0" anchor="t"/>
          <a:lstStyle/>
          <a:p>
            <a:pPr algn="l">
              <a:spcBef>
                <a:spcPts val="0"/>
              </a:spcBef>
              <a:spcAft>
                <a:spcPts val="0"/>
              </a:spcAft>
            </a:pPr>
            <a:r>
              <a:rPr sz="1500" b="0">
                <a:solidFill>
                  <a:srgbClr val="111111"/>
                </a:solidFill>
                <a:latin typeface="Calibri"/>
              </a:rPr>
              <a:t>No. Aura only sees that user’s own figures. The visa check still decides whether the shift is saved.</a:t>
            </a:r>
          </a:p>
        </p:txBody>
      </p:sp>
      <p:sp>
        <p:nvSpPr>
          <p:cNvPr id="10" name="Rectangle 9"/>
          <p:cNvSpPr/>
          <p:nvPr/>
        </p:nvSpPr>
        <p:spPr>
          <a:xfrm>
            <a:off x="502920" y="3584448"/>
            <a:ext cx="11155680" cy="2606040"/>
          </a:xfrm>
          <a:prstGeom prst="rect">
            <a:avLst/>
          </a:prstGeom>
          <a:solidFill>
            <a:srgbClr val="E7F4F3"/>
          </a:solidFill>
          <a:ln w="12700">
            <a:solidFill>
              <a:srgbClr val="C5D5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584448"/>
            <a:ext cx="11155680" cy="6400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3"/>
            <a:ext cx="10698480" cy="237744"/>
          </a:xfrm>
          <a:prstGeom prst="rect">
            <a:avLst/>
          </a:prstGeom>
          <a:noFill/>
        </p:spPr>
        <p:txBody>
          <a:bodyPr wrap="square" lIns="0" rIns="0" tIns="0" bIns="0" anchor="t"/>
          <a:lstStyle/>
          <a:p>
            <a:pPr algn="l">
              <a:spcBef>
                <a:spcPts val="0"/>
              </a:spcBef>
              <a:spcAft>
                <a:spcPts val="0"/>
              </a:spcAft>
            </a:pPr>
            <a:r>
              <a:rPr sz="1400" b="1">
                <a:solidFill>
                  <a:srgbClr val="0E7C7B"/>
                </a:solidFill>
                <a:latin typeface="Calibri"/>
              </a:rPr>
              <a:t>Then I ask the others</a:t>
            </a:r>
          </a:p>
        </p:txBody>
      </p:sp>
      <p:sp>
        <p:nvSpPr>
          <p:cNvPr id="13" name="TextBox 12"/>
          <p:cNvSpPr txBox="1"/>
          <p:nvPr/>
        </p:nvSpPr>
        <p:spPr>
          <a:xfrm>
            <a:off x="731520" y="4005072"/>
            <a:ext cx="10698480" cy="2011680"/>
          </a:xfrm>
          <a:prstGeom prst="rect">
            <a:avLst/>
          </a:prstGeom>
          <a:noFill/>
        </p:spPr>
        <p:txBody>
          <a:bodyPr wrap="square" lIns="0" rIns="0" tIns="0" bIns="0" anchor="t"/>
          <a:lstStyle/>
          <a:p>
            <a:pPr algn="l">
              <a:spcBef>
                <a:spcPts val="0"/>
              </a:spcBef>
              <a:spcAft>
                <a:spcPts val="0"/>
              </a:spcAft>
            </a:pPr>
            <a:r>
              <a:rPr sz="1400" b="0">
                <a:solidFill>
                  <a:srgbClr val="111111"/>
                </a:solidFill>
                <a:latin typeface="Calibri"/>
              </a:rPr>
              <a:t>Jenish: can Aura override the 48-hour rule?</a:t>
            </a:r>
          </a:p>
          <a:p>
            <a:pPr algn="l">
              <a:spcBef>
                <a:spcPts val="0"/>
              </a:spcBef>
              <a:spcAft>
                <a:spcPts val="0"/>
              </a:spcAft>
            </a:pPr>
            <a:r>
              <a:rPr sz="1400" b="0">
                <a:solidFill>
                  <a:srgbClr val="111111"/>
                </a:solidFill>
                <a:latin typeface="Calibri"/>
              </a:rPr>
              <a:t>Krishna: does Aura write a shift row?</a:t>
            </a:r>
          </a:p>
          <a:p>
            <a:pPr algn="l">
              <a:spcBef>
                <a:spcPts val="0"/>
              </a:spcBef>
              <a:spcAft>
                <a:spcPts val="0"/>
              </a:spcAft>
            </a:pPr>
            <a:r>
              <a:rPr sz="1400" b="0">
                <a:solidFill>
                  <a:srgbClr val="111111"/>
                </a:solidFill>
                <a:latin typeface="Calibri"/>
              </a:rPr>
              <a:t>Suraj: if Aura is off, do the numbers still show?</a:t>
            </a:r>
          </a:p>
        </p:txBody>
      </p:sp>
      <p:sp>
        <p:nvSpPr>
          <p:cNvPr id="14" name="TextBox 13"/>
          <p:cNvSpPr txBox="1"/>
          <p:nvPr/>
        </p:nvSpPr>
        <p:spPr>
          <a:xfrm>
            <a:off x="10424160" y="6446520"/>
            <a:ext cx="1280160" cy="256032"/>
          </a:xfrm>
          <a:prstGeom prst="rect">
            <a:avLst/>
          </a:prstGeom>
          <a:noFill/>
        </p:spPr>
        <p:txBody>
          <a:bodyPr wrap="square" lIns="0" rIns="0" tIns="0" bIns="0" anchor="t"/>
          <a:lstStyle/>
          <a:p>
            <a:pPr algn="r">
              <a:spcBef>
                <a:spcPts val="0"/>
              </a:spcBef>
              <a:spcAft>
                <a:spcPts val="0"/>
              </a:spcAft>
            </a:pPr>
            <a:r>
              <a:rPr sz="1400" b="1">
                <a:solidFill>
                  <a:srgbClr val="0E7C7B"/>
                </a:solidFill>
                <a:latin typeface="Calibri"/>
              </a:rPr>
              <a:t>14</a:t>
            </a:r>
          </a:p>
        </p:txBody>
      </p:sp>
      <p:sp>
        <p:nvSpPr>
          <p:cNvPr id="15" name="TextBox 14"/>
          <p:cNvSpPr txBox="1"/>
          <p:nvPr/>
        </p:nvSpPr>
        <p:spPr>
          <a:xfrm>
            <a:off x="502920" y="6446520"/>
            <a:ext cx="8229600" cy="256032"/>
          </a:xfrm>
          <a:prstGeom prst="rect">
            <a:avLst/>
          </a:prstGeom>
          <a:noFill/>
        </p:spPr>
        <p:txBody>
          <a:bodyPr wrap="square" lIns="0" rIns="0" tIns="0" bIns="0" anchor="t"/>
          <a:lstStyle/>
          <a:p>
            <a:pPr algn="l">
              <a:spcBef>
                <a:spcPts val="0"/>
              </a:spcBef>
              <a:spcAft>
                <a:spcPts val="0"/>
              </a:spcAft>
            </a:pPr>
            <a:r>
              <a:rPr sz="1200" b="0">
                <a:solidFill>
                  <a:srgbClr val="444444"/>
                </a:solidFill>
                <a:latin typeface="Calibri"/>
              </a:rPr>
              <a:t>OraEarn   ·   Dharma   ·   Developer and Scrum Master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OraEarn — Dharma, developer and Scrum Master</dc:title>
  <dc:subject>PRT681 Group 4</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